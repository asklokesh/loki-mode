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7144" y="-7144"/>
            <a:ext cx="4804172" cy="5143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789884" y="-7144"/>
            <a:ext cx="7144" cy="5143500"/>
          </a:xfrm>
          <a:prstGeom prst="rect">
            <a:avLst/>
          </a:prstGeom>
          <a:solidFill>
            <a:srgbClr val="E0E0FC"/>
          </a:solidFill>
          <a:ln/>
        </p:spPr>
      </p:sp>
      <p:sp>
        <p:nvSpPr>
          <p:cNvPr id="5" name="Text 2"/>
          <p:cNvSpPr/>
          <p:nvPr/>
        </p:nvSpPr>
        <p:spPr>
          <a:xfrm>
            <a:off x="450056" y="1089868"/>
            <a:ext cx="43434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2" kern="0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AUTONOMI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450056" y="1813368"/>
            <a:ext cx="4343400" cy="6000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35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Mode</a:t>
            </a:r>
            <a:endParaRPr lang="en-US" sz="4353" dirty="0"/>
          </a:p>
        </p:txBody>
      </p:sp>
      <p:sp>
        <p:nvSpPr>
          <p:cNvPr id="7" name="Text 4"/>
          <p:cNvSpPr/>
          <p:nvPr/>
        </p:nvSpPr>
        <p:spPr>
          <a:xfrm>
            <a:off x="450056" y="2556318"/>
            <a:ext cx="3571875" cy="840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86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multi-agent development with self-verification. PRD in, tested code out.</a:t>
            </a:r>
            <a:endParaRPr lang="en-US" sz="1486" dirty="0"/>
          </a:p>
        </p:txBody>
      </p:sp>
      <p:sp>
        <p:nvSpPr>
          <p:cNvPr id="8" name="Text 5"/>
          <p:cNvSpPr/>
          <p:nvPr/>
        </p:nvSpPr>
        <p:spPr>
          <a:xfrm>
            <a:off x="450056" y="3739307"/>
            <a:ext cx="434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Created by Lokesh Mure</a:t>
            </a:r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Powered by Autonomi (v6.6.0)</a:t>
            </a:r>
            <a:endParaRPr lang="en-US" sz="834" dirty="0"/>
          </a:p>
        </p:txBody>
      </p:sp>
      <p:sp>
        <p:nvSpPr>
          <p:cNvPr id="9" name="Shape 6"/>
          <p:cNvSpPr/>
          <p:nvPr/>
        </p:nvSpPr>
        <p:spPr>
          <a:xfrm>
            <a:off x="5743575" y="1789739"/>
            <a:ext cx="728663" cy="835819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888" y="2057629"/>
            <a:ext cx="285750" cy="2857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00825" y="1389459"/>
            <a:ext cx="728663" cy="835819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9419" y="1657350"/>
            <a:ext cx="357188" cy="28575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8075" y="1789739"/>
            <a:ext cx="728663" cy="835819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0247" y="2064773"/>
            <a:ext cx="250031" cy="28575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743575" y="2779148"/>
            <a:ext cx="728663" cy="835819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747" y="3047039"/>
            <a:ext cx="250031" cy="28575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600825" y="3048093"/>
            <a:ext cx="728663" cy="835819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5138" y="3315984"/>
            <a:ext cx="285750" cy="28575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7458075" y="2773059"/>
            <a:ext cx="728663" cy="835819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2388" y="3048093"/>
            <a:ext cx="285750" cy="28575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6472238" y="2046914"/>
            <a:ext cx="1014413" cy="1157288"/>
          </a:xfrm>
          <a:prstGeom prst="rect">
            <a:avLst/>
          </a:prstGeom>
          <a:solidFill>
            <a:srgbClr val="6366F1"/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7988" y="2404101"/>
            <a:ext cx="428625" cy="428625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8293894" y="4654153"/>
            <a:ext cx="550069" cy="203597"/>
          </a:xfrm>
          <a:prstGeom prst="rect">
            <a:avLst/>
          </a:prstGeom>
          <a:solidFill>
            <a:srgbClr val="6366F1">
              <a:alpha val="20000"/>
            </a:srgbClr>
          </a:solidFill>
          <a:ln w="9144">
            <a:solidFill>
              <a:srgbClr val="6366F1"/>
            </a:solidFill>
            <a:prstDash val="solid"/>
          </a:ln>
        </p:spPr>
      </p:sp>
      <p:sp>
        <p:nvSpPr>
          <p:cNvPr id="24" name="Text 14"/>
          <p:cNvSpPr/>
          <p:nvPr/>
        </p:nvSpPr>
        <p:spPr>
          <a:xfrm>
            <a:off x="8293894" y="4654153"/>
            <a:ext cx="550069" cy="203597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v6.6.0</a:t>
            </a:r>
            <a:endParaRPr lang="en-US" sz="72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8993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4356" y="421481"/>
            <a:ext cx="8572500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&amp; The Solution</a:t>
            </a:r>
            <a:endParaRPr lang="en-US" sz="2436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56" y="1139428"/>
            <a:ext cx="171450" cy="1714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1531" y="1121569"/>
            <a:ext cx="1430536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CHALLENGE</a:t>
            </a:r>
            <a:endParaRPr lang="en-US" sz="1193" dirty="0"/>
          </a:p>
        </p:txBody>
      </p:sp>
      <p:sp>
        <p:nvSpPr>
          <p:cNvPr id="6" name="Shape 2"/>
          <p:cNvSpPr/>
          <p:nvPr/>
        </p:nvSpPr>
        <p:spPr>
          <a:xfrm>
            <a:off x="564356" y="1500188"/>
            <a:ext cx="3786188" cy="742950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A1A1AA">
                <a:alpha val="20000"/>
              </a:srgbClr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64356" y="1500188"/>
            <a:ext cx="3786188" cy="742950"/>
          </a:xfrm>
          <a:prstGeom prst="rect">
            <a:avLst/>
          </a:prstGeom>
          <a:noFill/>
          <a:ln/>
        </p:spPr>
        <p:txBody>
          <a:bodyPr wrap="square" lIns="204089" tIns="204089" rIns="204089" bIns="204089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Development is bottlenecked by manual coding, testing, and deployment cycles.</a:t>
            </a:r>
            <a:endParaRPr lang="en-US" sz="942" dirty="0"/>
          </a:p>
        </p:txBody>
      </p:sp>
      <p:sp>
        <p:nvSpPr>
          <p:cNvPr id="8" name="Shape 4"/>
          <p:cNvSpPr/>
          <p:nvPr/>
        </p:nvSpPr>
        <p:spPr>
          <a:xfrm>
            <a:off x="564356" y="2371725"/>
            <a:ext cx="3786188" cy="742950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A1A1AA">
                <a:alpha val="20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4356" y="2371725"/>
            <a:ext cx="3786188" cy="742950"/>
          </a:xfrm>
          <a:prstGeom prst="rect">
            <a:avLst/>
          </a:prstGeom>
          <a:noFill/>
          <a:ln/>
        </p:spPr>
        <p:txBody>
          <a:bodyPr wrap="square" lIns="204089" tIns="204089" rIns="204089" bIns="204089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AI frameworks focus on single tasks or linear code generation.</a:t>
            </a:r>
            <a:endParaRPr lang="en-US" sz="942" dirty="0"/>
          </a:p>
        </p:txBody>
      </p:sp>
      <p:sp>
        <p:nvSpPr>
          <p:cNvPr id="10" name="Shape 6"/>
          <p:cNvSpPr/>
          <p:nvPr/>
        </p:nvSpPr>
        <p:spPr>
          <a:xfrm>
            <a:off x="564356" y="3243263"/>
            <a:ext cx="3786188" cy="742950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A1A1AA">
                <a:alpha val="20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4356" y="3243263"/>
            <a:ext cx="3786188" cy="742950"/>
          </a:xfrm>
          <a:prstGeom prst="rect">
            <a:avLst/>
          </a:prstGeom>
          <a:noFill/>
          <a:ln/>
        </p:spPr>
        <p:txBody>
          <a:bodyPr wrap="square" lIns="204089" tIns="204089" rIns="204089" bIns="204089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Significant gaps remain in business operations and infrastructure management.</a:t>
            </a:r>
            <a:endParaRPr lang="en-US" sz="942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169" y="1139428"/>
            <a:ext cx="171450" cy="1714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36344" y="1121569"/>
            <a:ext cx="2452092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LOKI MODE ADVANTAGE</a:t>
            </a:r>
            <a:endParaRPr lang="en-US" sz="1193" dirty="0"/>
          </a:p>
        </p:txBody>
      </p:sp>
      <p:sp>
        <p:nvSpPr>
          <p:cNvPr id="14" name="Shape 9"/>
          <p:cNvSpPr/>
          <p:nvPr/>
        </p:nvSpPr>
        <p:spPr>
          <a:xfrm>
            <a:off x="4779169" y="1500188"/>
            <a:ext cx="3786188" cy="742950"/>
          </a:xfrm>
          <a:prstGeom prst="rect">
            <a:avLst/>
          </a:prstGeom>
          <a:solidFill>
            <a:srgbClr val="6366F1">
              <a:alpha val="5000"/>
            </a:srgbClr>
          </a:solidFill>
          <a:ln w="9144">
            <a:solidFill>
              <a:srgbClr val="6366F1">
                <a:alpha val="4000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4779169" y="1500188"/>
            <a:ext cx="3786188" cy="742950"/>
          </a:xfrm>
          <a:prstGeom prst="rect">
            <a:avLst/>
          </a:prstGeom>
          <a:noFill/>
          <a:ln/>
        </p:spPr>
        <p:txBody>
          <a:bodyPr wrap="square" lIns="204089" tIns="204089" rIns="204089" bIns="204089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Orchestrates 41 specialized AI agents across 8 swarms for full-lifecycle delivery.</a:t>
            </a:r>
            <a:endParaRPr lang="en-US" sz="942" dirty="0"/>
          </a:p>
        </p:txBody>
      </p:sp>
      <p:sp>
        <p:nvSpPr>
          <p:cNvPr id="16" name="Shape 11"/>
          <p:cNvSpPr/>
          <p:nvPr/>
        </p:nvSpPr>
        <p:spPr>
          <a:xfrm>
            <a:off x="4779169" y="2371725"/>
            <a:ext cx="3786188" cy="742950"/>
          </a:xfrm>
          <a:prstGeom prst="rect">
            <a:avLst/>
          </a:prstGeom>
          <a:solidFill>
            <a:srgbClr val="6366F1">
              <a:alpha val="5000"/>
            </a:srgbClr>
          </a:solidFill>
          <a:ln w="9144">
            <a:solidFill>
              <a:srgbClr val="6366F1">
                <a:alpha val="4000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779169" y="2371725"/>
            <a:ext cx="3786188" cy="742950"/>
          </a:xfrm>
          <a:prstGeom prst="rect">
            <a:avLst/>
          </a:prstGeom>
          <a:noFill/>
          <a:ln/>
        </p:spPr>
        <p:txBody>
          <a:bodyPr wrap="square" lIns="204089" tIns="204089" rIns="204089" bIns="204089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Transforms a single PRD into a fully built, tested, and deployed product.</a:t>
            </a:r>
            <a:endParaRPr lang="en-US" sz="942" dirty="0"/>
          </a:p>
        </p:txBody>
      </p:sp>
      <p:sp>
        <p:nvSpPr>
          <p:cNvPr id="18" name="Shape 13"/>
          <p:cNvSpPr/>
          <p:nvPr/>
        </p:nvSpPr>
        <p:spPr>
          <a:xfrm>
            <a:off x="4779169" y="3243263"/>
            <a:ext cx="3786188" cy="742950"/>
          </a:xfrm>
          <a:prstGeom prst="rect">
            <a:avLst/>
          </a:prstGeom>
          <a:solidFill>
            <a:srgbClr val="6366F1">
              <a:alpha val="5000"/>
            </a:srgbClr>
          </a:solidFill>
          <a:ln w="9144">
            <a:solidFill>
              <a:srgbClr val="6366F1">
                <a:alpha val="40000"/>
              </a:srgbClr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779169" y="3243263"/>
            <a:ext cx="3786188" cy="742950"/>
          </a:xfrm>
          <a:prstGeom prst="rect">
            <a:avLst/>
          </a:prstGeom>
          <a:noFill/>
          <a:ln/>
        </p:spPr>
        <p:txBody>
          <a:bodyPr wrap="square" lIns="204089" tIns="204089" rIns="204089" bIns="204089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multi-agent execution with minimal human intervention required.</a:t>
            </a:r>
            <a:endParaRPr lang="en-US" sz="942" dirty="0"/>
          </a:p>
        </p:txBody>
      </p:sp>
      <p:sp>
        <p:nvSpPr>
          <p:cNvPr id="20" name="Shape 15"/>
          <p:cNvSpPr/>
          <p:nvPr/>
        </p:nvSpPr>
        <p:spPr>
          <a:xfrm>
            <a:off x="2691408" y="4400550"/>
            <a:ext cx="3746897" cy="73937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1" name="Text 16"/>
          <p:cNvSpPr/>
          <p:nvPr/>
        </p:nvSpPr>
        <p:spPr>
          <a:xfrm>
            <a:off x="2977158" y="4543425"/>
            <a:ext cx="1232297" cy="4536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98.78%</a:t>
            </a:r>
            <a:endParaRPr lang="en-US" sz="2436" dirty="0"/>
          </a:p>
        </p:txBody>
      </p:sp>
      <p:sp>
        <p:nvSpPr>
          <p:cNvPr id="22" name="Text 17"/>
          <p:cNvSpPr/>
          <p:nvPr/>
        </p:nvSpPr>
        <p:spPr>
          <a:xfrm>
            <a:off x="4423767" y="4615951"/>
            <a:ext cx="17287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HumanEval Success Rate</a:t>
            </a:r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 Technical Excellence</a:t>
            </a:r>
            <a:endParaRPr lang="en-US" sz="94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4356" y="421481"/>
            <a:ext cx="8572500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 Architecture: 8 Swarms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64356" y="1050131"/>
            <a:ext cx="2052712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SWARM</a:t>
            </a:r>
            <a:endParaRPr lang="en-US" sz="885" dirty="0"/>
          </a:p>
        </p:txBody>
      </p:sp>
      <p:sp>
        <p:nvSpPr>
          <p:cNvPr id="5" name="Text 2"/>
          <p:cNvSpPr/>
          <p:nvPr/>
        </p:nvSpPr>
        <p:spPr>
          <a:xfrm>
            <a:off x="2617068" y="1050131"/>
            <a:ext cx="1154330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885" dirty="0"/>
          </a:p>
        </p:txBody>
      </p:sp>
      <p:sp>
        <p:nvSpPr>
          <p:cNvPr id="6" name="Text 3"/>
          <p:cNvSpPr/>
          <p:nvPr/>
        </p:nvSpPr>
        <p:spPr>
          <a:xfrm>
            <a:off x="3771398" y="1050131"/>
            <a:ext cx="4793959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RESPONSIBILITY</a:t>
            </a:r>
            <a:endParaRPr lang="en-US" sz="885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56" y="1568946"/>
            <a:ext cx="128588" cy="1285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8681" y="1555552"/>
            <a:ext cx="6107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</a:t>
            </a:r>
            <a:endParaRPr lang="en-US" sz="885" dirty="0"/>
          </a:p>
        </p:txBody>
      </p:sp>
      <p:sp>
        <p:nvSpPr>
          <p:cNvPr id="9" name="Shape 5"/>
          <p:cNvSpPr/>
          <p:nvPr/>
        </p:nvSpPr>
        <p:spPr>
          <a:xfrm>
            <a:off x="2731368" y="1512689"/>
            <a:ext cx="262533" cy="24110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731368" y="1512689"/>
            <a:ext cx="262533" cy="241102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42" dirty="0"/>
          </a:p>
        </p:txBody>
      </p:sp>
      <p:sp>
        <p:nvSpPr>
          <p:cNvPr id="11" name="Text 7"/>
          <p:cNvSpPr/>
          <p:nvPr/>
        </p:nvSpPr>
        <p:spPr>
          <a:xfrm>
            <a:off x="3771398" y="1441252"/>
            <a:ext cx="4793959" cy="380405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initialization and base environment setup</a:t>
            </a:r>
            <a:endParaRPr lang="en-US" sz="942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56" y="1945779"/>
            <a:ext cx="128588" cy="12858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78681" y="1932384"/>
            <a:ext cx="63400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</a:t>
            </a:r>
            <a:endParaRPr lang="en-US" sz="885" dirty="0"/>
          </a:p>
        </p:txBody>
      </p:sp>
      <p:sp>
        <p:nvSpPr>
          <p:cNvPr id="14" name="Shape 9"/>
          <p:cNvSpPr/>
          <p:nvPr/>
        </p:nvSpPr>
        <p:spPr>
          <a:xfrm>
            <a:off x="2731368" y="1889522"/>
            <a:ext cx="262533" cy="24110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731368" y="1889522"/>
            <a:ext cx="262533" cy="241102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42" dirty="0"/>
          </a:p>
        </p:txBody>
      </p:sp>
      <p:sp>
        <p:nvSpPr>
          <p:cNvPr id="16" name="Text 11"/>
          <p:cNvSpPr/>
          <p:nvPr/>
        </p:nvSpPr>
        <p:spPr>
          <a:xfrm>
            <a:off x="3771398" y="1821656"/>
            <a:ext cx="4793959" cy="37683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Requirement analysis and deep domain research</a:t>
            </a:r>
            <a:endParaRPr lang="en-US" sz="942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656" y="2322612"/>
            <a:ext cx="128588" cy="1285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78681" y="2309217"/>
            <a:ext cx="78402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885" dirty="0"/>
          </a:p>
        </p:txBody>
      </p:sp>
      <p:sp>
        <p:nvSpPr>
          <p:cNvPr id="19" name="Shape 13"/>
          <p:cNvSpPr/>
          <p:nvPr/>
        </p:nvSpPr>
        <p:spPr>
          <a:xfrm>
            <a:off x="2731368" y="2266355"/>
            <a:ext cx="262533" cy="24110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731368" y="2266355"/>
            <a:ext cx="262533" cy="241102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42" dirty="0"/>
          </a:p>
        </p:txBody>
      </p:sp>
      <p:sp>
        <p:nvSpPr>
          <p:cNvPr id="21" name="Text 15"/>
          <p:cNvSpPr/>
          <p:nvPr/>
        </p:nvSpPr>
        <p:spPr>
          <a:xfrm>
            <a:off x="3771398" y="2198489"/>
            <a:ext cx="4793959" cy="37683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 design and optimal tech stack selection</a:t>
            </a:r>
            <a:endParaRPr lang="en-US" sz="942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656" y="2699445"/>
            <a:ext cx="160734" cy="1285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0828" y="2686050"/>
            <a:ext cx="83581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Development</a:t>
            </a:r>
            <a:endParaRPr lang="en-US" sz="885" dirty="0"/>
          </a:p>
        </p:txBody>
      </p:sp>
      <p:sp>
        <p:nvSpPr>
          <p:cNvPr id="24" name="Shape 17"/>
          <p:cNvSpPr/>
          <p:nvPr/>
        </p:nvSpPr>
        <p:spPr>
          <a:xfrm>
            <a:off x="2731368" y="2643188"/>
            <a:ext cx="262533" cy="24110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2731368" y="2643188"/>
            <a:ext cx="262533" cy="241102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en-US" sz="942" dirty="0"/>
          </a:p>
        </p:txBody>
      </p:sp>
      <p:sp>
        <p:nvSpPr>
          <p:cNvPr id="26" name="Text 19"/>
          <p:cNvSpPr/>
          <p:nvPr/>
        </p:nvSpPr>
        <p:spPr>
          <a:xfrm>
            <a:off x="3771398" y="2575322"/>
            <a:ext cx="4793959" cy="37683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Full-stack coding and core feature implementation</a:t>
            </a:r>
            <a:endParaRPr lang="en-US" sz="942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656" y="3076277"/>
            <a:ext cx="128588" cy="12858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78681" y="3062883"/>
            <a:ext cx="19109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QA</a:t>
            </a:r>
            <a:endParaRPr lang="en-US" sz="885" dirty="0"/>
          </a:p>
        </p:txBody>
      </p:sp>
      <p:sp>
        <p:nvSpPr>
          <p:cNvPr id="29" name="Shape 21"/>
          <p:cNvSpPr/>
          <p:nvPr/>
        </p:nvSpPr>
        <p:spPr>
          <a:xfrm>
            <a:off x="2731368" y="3020020"/>
            <a:ext cx="262533" cy="24110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2731368" y="3020020"/>
            <a:ext cx="262533" cy="241102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42" dirty="0"/>
          </a:p>
        </p:txBody>
      </p:sp>
      <p:sp>
        <p:nvSpPr>
          <p:cNvPr id="31" name="Text 23"/>
          <p:cNvSpPr/>
          <p:nvPr/>
        </p:nvSpPr>
        <p:spPr>
          <a:xfrm>
            <a:off x="3771398" y="2952155"/>
            <a:ext cx="4793959" cy="37683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9-gate quality control and 3-reviewer blind review</a:t>
            </a:r>
            <a:endParaRPr lang="en-US" sz="942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656" y="3453110"/>
            <a:ext cx="144661" cy="128588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894755" y="3439716"/>
            <a:ext cx="86260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</a:t>
            </a:r>
            <a:endParaRPr lang="en-US" sz="885" dirty="0"/>
          </a:p>
        </p:txBody>
      </p:sp>
      <p:sp>
        <p:nvSpPr>
          <p:cNvPr id="34" name="Shape 25"/>
          <p:cNvSpPr/>
          <p:nvPr/>
        </p:nvSpPr>
        <p:spPr>
          <a:xfrm>
            <a:off x="2731368" y="3396853"/>
            <a:ext cx="262533" cy="24110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2731368" y="3396853"/>
            <a:ext cx="262533" cy="241102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42" dirty="0"/>
          </a:p>
        </p:txBody>
      </p:sp>
      <p:sp>
        <p:nvSpPr>
          <p:cNvPr id="36" name="Text 27"/>
          <p:cNvSpPr/>
          <p:nvPr/>
        </p:nvSpPr>
        <p:spPr>
          <a:xfrm>
            <a:off x="3771398" y="3328988"/>
            <a:ext cx="4793959" cy="37683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coordination and real-time task management</a:t>
            </a:r>
            <a:endParaRPr lang="en-US" sz="942" dirty="0"/>
          </a:p>
        </p:txBody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56" y="3829943"/>
            <a:ext cx="128588" cy="12858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78681" y="3816548"/>
            <a:ext cx="4572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</a:t>
            </a:r>
            <a:endParaRPr lang="en-US" sz="885" dirty="0"/>
          </a:p>
        </p:txBody>
      </p:sp>
      <p:sp>
        <p:nvSpPr>
          <p:cNvPr id="39" name="Shape 29"/>
          <p:cNvSpPr/>
          <p:nvPr/>
        </p:nvSpPr>
        <p:spPr>
          <a:xfrm>
            <a:off x="2731368" y="3773686"/>
            <a:ext cx="262533" cy="24110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2731368" y="3773686"/>
            <a:ext cx="262533" cy="241102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42" dirty="0"/>
          </a:p>
        </p:txBody>
      </p:sp>
      <p:sp>
        <p:nvSpPr>
          <p:cNvPr id="41" name="Text 31"/>
          <p:cNvSpPr/>
          <p:nvPr/>
        </p:nvSpPr>
        <p:spPr>
          <a:xfrm>
            <a:off x="3771398" y="3705820"/>
            <a:ext cx="4793959" cy="376833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sales, and business operation strategy</a:t>
            </a:r>
            <a:endParaRPr lang="en-US" sz="942" dirty="0"/>
          </a:p>
        </p:txBody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8656" y="4206776"/>
            <a:ext cx="160734" cy="128588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910828" y="4193381"/>
            <a:ext cx="76080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Deployment</a:t>
            </a:r>
            <a:endParaRPr lang="en-US" sz="885" dirty="0"/>
          </a:p>
        </p:txBody>
      </p:sp>
      <p:sp>
        <p:nvSpPr>
          <p:cNvPr id="44" name="Shape 33"/>
          <p:cNvSpPr/>
          <p:nvPr/>
        </p:nvSpPr>
        <p:spPr>
          <a:xfrm>
            <a:off x="2731368" y="4150519"/>
            <a:ext cx="262533" cy="24110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2731368" y="4150519"/>
            <a:ext cx="262533" cy="241102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42" dirty="0"/>
          </a:p>
        </p:txBody>
      </p:sp>
      <p:sp>
        <p:nvSpPr>
          <p:cNvPr id="46" name="Text 35"/>
          <p:cNvSpPr/>
          <p:nvPr/>
        </p:nvSpPr>
        <p:spPr>
          <a:xfrm>
            <a:off x="3771398" y="4082653"/>
            <a:ext cx="4793959" cy="380405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as Code (IaC) and cloud delivery</a:t>
            </a:r>
            <a:endParaRPr lang="en-US" sz="942" dirty="0"/>
          </a:p>
        </p:txBody>
      </p:sp>
      <p:sp>
        <p:nvSpPr>
          <p:cNvPr id="47" name="Shape 36"/>
          <p:cNvSpPr/>
          <p:nvPr/>
        </p:nvSpPr>
        <p:spPr>
          <a:xfrm>
            <a:off x="564356" y="4463058"/>
            <a:ext cx="8001000" cy="380405"/>
          </a:xfrm>
          <a:prstGeom prst="rect">
            <a:avLst/>
          </a:prstGeom>
          <a:solidFill>
            <a:srgbClr val="6366F1">
              <a:alpha val="5000"/>
            </a:srgbClr>
          </a:solidFill>
          <a:ln/>
        </p:spPr>
      </p:sp>
      <p:sp>
        <p:nvSpPr>
          <p:cNvPr id="48" name="Text 37"/>
          <p:cNvSpPr/>
          <p:nvPr/>
        </p:nvSpPr>
        <p:spPr>
          <a:xfrm>
            <a:off x="564356" y="4463058"/>
            <a:ext cx="2052712" cy="380405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Orchestration</a:t>
            </a:r>
            <a:endParaRPr lang="en-US" sz="885" dirty="0"/>
          </a:p>
        </p:txBody>
      </p:sp>
      <p:sp>
        <p:nvSpPr>
          <p:cNvPr id="49" name="Shape 38"/>
          <p:cNvSpPr/>
          <p:nvPr/>
        </p:nvSpPr>
        <p:spPr>
          <a:xfrm>
            <a:off x="2731368" y="4534495"/>
            <a:ext cx="339328" cy="24110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2731368" y="4534495"/>
            <a:ext cx="339328" cy="241102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41</a:t>
            </a:r>
            <a:endParaRPr lang="en-US" sz="885" dirty="0"/>
          </a:p>
        </p:txBody>
      </p:sp>
      <p:sp>
        <p:nvSpPr>
          <p:cNvPr id="51" name="Text 40"/>
          <p:cNvSpPr/>
          <p:nvPr/>
        </p:nvSpPr>
        <p:spPr>
          <a:xfrm>
            <a:off x="3771398" y="4463058"/>
            <a:ext cx="4793959" cy="380405"/>
          </a:xfrm>
          <a:prstGeom prst="rect">
            <a:avLst/>
          </a:prstGeom>
          <a:noFill/>
          <a:ln/>
        </p:spPr>
        <p:txBody>
          <a:bodyPr wrap="square" lIns="136017" tIns="119126" rIns="136017" bIns="119126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Autonomous Software Delivery Lifecycle</a:t>
            </a:r>
            <a:endParaRPr lang="en-US" sz="88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4356" y="421481"/>
            <a:ext cx="8572500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RARV Cycle &amp; CoVe Protocol</a:t>
            </a:r>
            <a:endParaRPr lang="en-US" sz="2436" dirty="0"/>
          </a:p>
        </p:txBody>
      </p:sp>
      <p:sp>
        <p:nvSpPr>
          <p:cNvPr id="4" name="Shape 1"/>
          <p:cNvSpPr/>
          <p:nvPr/>
        </p:nvSpPr>
        <p:spPr>
          <a:xfrm>
            <a:off x="1071563" y="1121569"/>
            <a:ext cx="585788" cy="585788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156" y="1293019"/>
            <a:ext cx="228600" cy="228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53703" y="1864519"/>
            <a:ext cx="62150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REASON</a:t>
            </a:r>
            <a:endParaRPr lang="en-US" sz="1193" dirty="0"/>
          </a:p>
        </p:txBody>
      </p:sp>
      <p:sp>
        <p:nvSpPr>
          <p:cNvPr id="7" name="Text 3"/>
          <p:cNvSpPr/>
          <p:nvPr/>
        </p:nvSpPr>
        <p:spPr>
          <a:xfrm>
            <a:off x="564356" y="2205633"/>
            <a:ext cx="1600200" cy="514350"/>
          </a:xfrm>
          <a:prstGeom prst="rect">
            <a:avLst/>
          </a:prstGeom>
          <a:noFill/>
          <a:ln/>
        </p:spPr>
        <p:txBody>
          <a:bodyPr wrap="square" lIns="85090" tIns="0" rIns="85090" bIns="0" rtlCol="0" anchor="t">
            <a:sp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Identifying next tasks and identifying hallucinations early.</a:t>
            </a:r>
            <a:endParaRPr lang="en-US" sz="834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1694" y="1407319"/>
            <a:ext cx="150019" cy="17145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2671763" y="1121569"/>
            <a:ext cx="585788" cy="585788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069" y="1293019"/>
            <a:ext cx="257175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809280" y="1864519"/>
            <a:ext cx="31075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</a:t>
            </a:r>
            <a:endParaRPr lang="en-US" sz="1193" dirty="0"/>
          </a:p>
        </p:txBody>
      </p:sp>
      <p:sp>
        <p:nvSpPr>
          <p:cNvPr id="12" name="Text 6"/>
          <p:cNvSpPr/>
          <p:nvPr/>
        </p:nvSpPr>
        <p:spPr>
          <a:xfrm>
            <a:off x="2164556" y="2205633"/>
            <a:ext cx="1600200" cy="514350"/>
          </a:xfrm>
          <a:prstGeom prst="rect">
            <a:avLst/>
          </a:prstGeom>
          <a:noFill/>
          <a:ln/>
        </p:spPr>
        <p:txBody>
          <a:bodyPr wrap="square" lIns="85090" tIns="0" rIns="85090" bIns="0" rtlCol="0" anchor="t">
            <a:sp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Executing code changes, commits, and autonomous iterations.</a:t>
            </a:r>
            <a:endParaRPr lang="en-US" sz="834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1894" y="1407319"/>
            <a:ext cx="150019" cy="17145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4271963" y="1121569"/>
            <a:ext cx="585788" cy="585788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0556" y="1293019"/>
            <a:ext cx="228600" cy="22860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202311" y="1864519"/>
            <a:ext cx="72509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REFLECT</a:t>
            </a:r>
            <a:endParaRPr lang="en-US" sz="1193" dirty="0"/>
          </a:p>
        </p:txBody>
      </p:sp>
      <p:sp>
        <p:nvSpPr>
          <p:cNvPr id="17" name="Text 9"/>
          <p:cNvSpPr/>
          <p:nvPr/>
        </p:nvSpPr>
        <p:spPr>
          <a:xfrm>
            <a:off x="3764756" y="2205633"/>
            <a:ext cx="1600200" cy="514350"/>
          </a:xfrm>
          <a:prstGeom prst="rect">
            <a:avLst/>
          </a:prstGeom>
          <a:noFill/>
          <a:ln/>
        </p:spPr>
        <p:txBody>
          <a:bodyPr wrap="square" lIns="85090" tIns="0" rIns="85090" bIns="0" rtlCol="0" anchor="t">
            <a:sp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Updating working memory and extracting learnings from failures.</a:t>
            </a:r>
            <a:endParaRPr lang="en-US" sz="834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2094" y="1407319"/>
            <a:ext cx="150019" cy="171450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5872163" y="1121569"/>
            <a:ext cx="585788" cy="585788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sp>
        <p:nvSpPr>
          <p:cNvPr id="20" name="Text 11"/>
          <p:cNvSpPr/>
          <p:nvPr/>
        </p:nvSpPr>
        <p:spPr>
          <a:xfrm>
            <a:off x="5854303" y="1864519"/>
            <a:ext cx="62150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VERIFY</a:t>
            </a:r>
            <a:endParaRPr lang="en-US" sz="1193" dirty="0"/>
          </a:p>
        </p:txBody>
      </p:sp>
      <p:sp>
        <p:nvSpPr>
          <p:cNvPr id="21" name="Text 12"/>
          <p:cNvSpPr/>
          <p:nvPr/>
        </p:nvSpPr>
        <p:spPr>
          <a:xfrm>
            <a:off x="5364956" y="2205633"/>
            <a:ext cx="1600200" cy="685800"/>
          </a:xfrm>
          <a:prstGeom prst="rect">
            <a:avLst/>
          </a:prstGeom>
          <a:noFill/>
          <a:ln/>
        </p:spPr>
        <p:txBody>
          <a:bodyPr wrap="square" lIns="85090" tIns="0" rIns="85090" bIns="0" rtlCol="0" anchor="t">
            <a:sp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Running 9 gates via </a:t>
            </a:r>
            <a:pPr algn="ctr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Chain-of-Verification (CoVe)</a:t>
            </a:r>
            <a:pPr algn="ctr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independent </a:t>
            </a:r>
            <a:pPr algn="ctr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review.</a:t>
            </a:r>
            <a:endParaRPr lang="en-US" sz="834" dirty="0"/>
          </a:p>
        </p:txBody>
      </p:sp>
      <p:sp>
        <p:nvSpPr>
          <p:cNvPr id="22" name="Text 13"/>
          <p:cNvSpPr/>
          <p:nvPr/>
        </p:nvSpPr>
        <p:spPr>
          <a:xfrm>
            <a:off x="5700713" y="2948583"/>
            <a:ext cx="928688" cy="155377"/>
          </a:xfrm>
          <a:prstGeom prst="rect">
            <a:avLst/>
          </a:prstGeom>
          <a:noFill/>
          <a:ln/>
        </p:spPr>
        <p:txBody>
          <a:bodyPr wrap="square" lIns="51054" tIns="17018" rIns="51054" bIns="17018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arXiv 2309.11495</a:t>
            </a:r>
            <a:endParaRPr lang="en-US" sz="621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294" y="1407319"/>
            <a:ext cx="150019" cy="17145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7472363" y="1121569"/>
            <a:ext cx="585788" cy="585788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50956" y="1293019"/>
            <a:ext cx="228600" cy="228600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7350919" y="1864519"/>
            <a:ext cx="82867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COMPOUND</a:t>
            </a:r>
            <a:endParaRPr lang="en-US" sz="1193" dirty="0"/>
          </a:p>
        </p:txBody>
      </p:sp>
      <p:sp>
        <p:nvSpPr>
          <p:cNvPr id="27" name="Text 16"/>
          <p:cNvSpPr/>
          <p:nvPr/>
        </p:nvSpPr>
        <p:spPr>
          <a:xfrm>
            <a:off x="6965156" y="2205633"/>
            <a:ext cx="1600200" cy="514350"/>
          </a:xfrm>
          <a:prstGeom prst="rect">
            <a:avLst/>
          </a:prstGeom>
          <a:noFill/>
          <a:ln/>
        </p:spPr>
        <p:txBody>
          <a:bodyPr wrap="square" lIns="85090" tIns="0" rIns="85090" bIns="0" rtlCol="0" anchor="t">
            <a:sp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Consolidating episodic memory into long-term semantic knowledge.</a:t>
            </a:r>
            <a:endParaRPr lang="en-US" sz="834" dirty="0"/>
          </a:p>
        </p:txBody>
      </p:sp>
      <p:sp>
        <p:nvSpPr>
          <p:cNvPr id="28" name="Text 17"/>
          <p:cNvSpPr/>
          <p:nvPr/>
        </p:nvSpPr>
        <p:spPr>
          <a:xfrm>
            <a:off x="3332559" y="4414838"/>
            <a:ext cx="246459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spc="2" kern="0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SELF-VERIFYING AUTONOMOUS LOOP</a:t>
            </a:r>
            <a:endParaRPr lang="en-US" sz="784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4356" y="421481"/>
            <a:ext cx="8572500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Quality Gates &amp; Test Integrity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64356" y="1050131"/>
            <a:ext cx="4543425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VERIFICATION PIPELINE</a:t>
            </a:r>
            <a:endParaRPr lang="en-US" sz="987" dirty="0"/>
          </a:p>
        </p:txBody>
      </p:sp>
      <p:sp>
        <p:nvSpPr>
          <p:cNvPr id="5" name="Shape 2"/>
          <p:cNvSpPr/>
          <p:nvPr/>
        </p:nvSpPr>
        <p:spPr>
          <a:xfrm>
            <a:off x="564356" y="1366242"/>
            <a:ext cx="2214563" cy="392906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78656" y="1487686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784" dirty="0"/>
          </a:p>
        </p:txBody>
      </p:sp>
      <p:sp>
        <p:nvSpPr>
          <p:cNvPr id="7" name="Text 4"/>
          <p:cNvSpPr/>
          <p:nvPr/>
        </p:nvSpPr>
        <p:spPr>
          <a:xfrm>
            <a:off x="900113" y="1493937"/>
            <a:ext cx="859036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 Guardrails</a:t>
            </a:r>
            <a:endParaRPr lang="en-US" sz="834" dirty="0"/>
          </a:p>
        </p:txBody>
      </p:sp>
      <p:sp>
        <p:nvSpPr>
          <p:cNvPr id="8" name="Shape 5"/>
          <p:cNvSpPr/>
          <p:nvPr/>
        </p:nvSpPr>
        <p:spPr>
          <a:xfrm>
            <a:off x="2893219" y="1366242"/>
            <a:ext cx="2214563" cy="392906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07519" y="1480542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784" dirty="0"/>
          </a:p>
        </p:txBody>
      </p:sp>
      <p:sp>
        <p:nvSpPr>
          <p:cNvPr id="10" name="Text 7"/>
          <p:cNvSpPr/>
          <p:nvPr/>
        </p:nvSpPr>
        <p:spPr>
          <a:xfrm>
            <a:off x="3228975" y="1486793"/>
            <a:ext cx="792956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Analysis</a:t>
            </a:r>
            <a:endParaRPr lang="en-US" sz="834" dirty="0"/>
          </a:p>
        </p:txBody>
      </p:sp>
      <p:sp>
        <p:nvSpPr>
          <p:cNvPr id="11" name="Shape 8"/>
          <p:cNvSpPr/>
          <p:nvPr/>
        </p:nvSpPr>
        <p:spPr>
          <a:xfrm>
            <a:off x="564356" y="1859161"/>
            <a:ext cx="2214563" cy="392906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8656" y="1980605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784" dirty="0"/>
          </a:p>
        </p:txBody>
      </p:sp>
      <p:sp>
        <p:nvSpPr>
          <p:cNvPr id="13" name="Text 10"/>
          <p:cNvSpPr/>
          <p:nvPr/>
        </p:nvSpPr>
        <p:spPr>
          <a:xfrm>
            <a:off x="900113" y="1986855"/>
            <a:ext cx="145911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Blind Review (3 Reviewers)</a:t>
            </a:r>
            <a:endParaRPr lang="en-US" sz="834" dirty="0"/>
          </a:p>
        </p:txBody>
      </p:sp>
      <p:sp>
        <p:nvSpPr>
          <p:cNvPr id="14" name="Shape 11"/>
          <p:cNvSpPr/>
          <p:nvPr/>
        </p:nvSpPr>
        <p:spPr>
          <a:xfrm>
            <a:off x="2893219" y="1859161"/>
            <a:ext cx="2214563" cy="392906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07519" y="1973461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784" dirty="0"/>
          </a:p>
        </p:txBody>
      </p:sp>
      <p:sp>
        <p:nvSpPr>
          <p:cNvPr id="16" name="Text 13"/>
          <p:cNvSpPr/>
          <p:nvPr/>
        </p:nvSpPr>
        <p:spPr>
          <a:xfrm>
            <a:off x="3228975" y="1979712"/>
            <a:ext cx="13716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Anti-Sycophancy Checks</a:t>
            </a:r>
            <a:endParaRPr lang="en-US" sz="834" dirty="0"/>
          </a:p>
        </p:txBody>
      </p:sp>
      <p:sp>
        <p:nvSpPr>
          <p:cNvPr id="17" name="Shape 14"/>
          <p:cNvSpPr/>
          <p:nvPr/>
        </p:nvSpPr>
        <p:spPr>
          <a:xfrm>
            <a:off x="564356" y="2352080"/>
            <a:ext cx="2214563" cy="392906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8656" y="2473523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784" dirty="0"/>
          </a:p>
        </p:txBody>
      </p:sp>
      <p:sp>
        <p:nvSpPr>
          <p:cNvPr id="19" name="Text 16"/>
          <p:cNvSpPr/>
          <p:nvPr/>
        </p:nvSpPr>
        <p:spPr>
          <a:xfrm>
            <a:off x="900113" y="2479774"/>
            <a:ext cx="95369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Guardrails</a:t>
            </a:r>
            <a:endParaRPr lang="en-US" sz="834" dirty="0"/>
          </a:p>
        </p:txBody>
      </p:sp>
      <p:sp>
        <p:nvSpPr>
          <p:cNvPr id="20" name="Shape 17"/>
          <p:cNvSpPr/>
          <p:nvPr/>
        </p:nvSpPr>
        <p:spPr>
          <a:xfrm>
            <a:off x="2893219" y="2352080"/>
            <a:ext cx="2214563" cy="392906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007519" y="2466380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784" dirty="0"/>
          </a:p>
        </p:txBody>
      </p:sp>
      <p:sp>
        <p:nvSpPr>
          <p:cNvPr id="22" name="Text 19"/>
          <p:cNvSpPr/>
          <p:nvPr/>
        </p:nvSpPr>
        <p:spPr>
          <a:xfrm>
            <a:off x="3228975" y="2472630"/>
            <a:ext cx="132338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Severity-Based Blocking</a:t>
            </a:r>
            <a:endParaRPr lang="en-US" sz="834" dirty="0"/>
          </a:p>
        </p:txBody>
      </p:sp>
      <p:sp>
        <p:nvSpPr>
          <p:cNvPr id="23" name="Shape 20"/>
          <p:cNvSpPr/>
          <p:nvPr/>
        </p:nvSpPr>
        <p:spPr>
          <a:xfrm>
            <a:off x="564356" y="2844998"/>
            <a:ext cx="2214563" cy="392906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8656" y="2966442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784" dirty="0"/>
          </a:p>
        </p:txBody>
      </p:sp>
      <p:sp>
        <p:nvSpPr>
          <p:cNvPr id="25" name="Text 22"/>
          <p:cNvSpPr/>
          <p:nvPr/>
        </p:nvSpPr>
        <p:spPr>
          <a:xfrm>
            <a:off x="900113" y="2972693"/>
            <a:ext cx="112692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Coverage Gates</a:t>
            </a:r>
            <a:endParaRPr lang="en-US" sz="834" dirty="0"/>
          </a:p>
        </p:txBody>
      </p:sp>
      <p:sp>
        <p:nvSpPr>
          <p:cNvPr id="26" name="Shape 23"/>
          <p:cNvSpPr/>
          <p:nvPr/>
        </p:nvSpPr>
        <p:spPr>
          <a:xfrm>
            <a:off x="2893219" y="2844998"/>
            <a:ext cx="2214563" cy="392906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007519" y="2959298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784" dirty="0"/>
          </a:p>
        </p:txBody>
      </p:sp>
      <p:sp>
        <p:nvSpPr>
          <p:cNvPr id="28" name="Text 25"/>
          <p:cNvSpPr/>
          <p:nvPr/>
        </p:nvSpPr>
        <p:spPr>
          <a:xfrm>
            <a:off x="3228975" y="2965549"/>
            <a:ext cx="79474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Mock Detector</a:t>
            </a:r>
            <a:endParaRPr lang="en-US" sz="834" dirty="0"/>
          </a:p>
        </p:txBody>
      </p:sp>
      <p:sp>
        <p:nvSpPr>
          <p:cNvPr id="29" name="Shape 26"/>
          <p:cNvSpPr/>
          <p:nvPr/>
        </p:nvSpPr>
        <p:spPr>
          <a:xfrm>
            <a:off x="564356" y="3337917"/>
            <a:ext cx="4543425" cy="392906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78656" y="3452217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784" dirty="0"/>
          </a:p>
        </p:txBody>
      </p:sp>
      <p:sp>
        <p:nvSpPr>
          <p:cNvPr id="31" name="Text 28"/>
          <p:cNvSpPr/>
          <p:nvPr/>
        </p:nvSpPr>
        <p:spPr>
          <a:xfrm>
            <a:off x="900113" y="3458468"/>
            <a:ext cx="123051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Mutation Detector</a:t>
            </a:r>
            <a:endParaRPr lang="en-US" sz="834" dirty="0"/>
          </a:p>
        </p:txBody>
      </p:sp>
      <p:sp>
        <p:nvSpPr>
          <p:cNvPr id="32" name="Shape 29"/>
          <p:cNvSpPr/>
          <p:nvPr/>
        </p:nvSpPr>
        <p:spPr>
          <a:xfrm>
            <a:off x="5441756" y="1353741"/>
            <a:ext cx="3028950" cy="2436019"/>
          </a:xfrm>
          <a:prstGeom prst="rect">
            <a:avLst/>
          </a:prstGeom>
          <a:solidFill>
            <a:srgbClr val="6366F1">
              <a:alpha val="5000"/>
            </a:srgbClr>
          </a:solidFill>
          <a:ln w="9144">
            <a:solidFill>
              <a:srgbClr val="6366F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727506" y="1646634"/>
            <a:ext cx="24574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87" b="1" spc="2" kern="0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HUMANEVAL SUCCESS</a:t>
            </a:r>
            <a:endParaRPr lang="en-US" sz="987" dirty="0"/>
          </a:p>
        </p:txBody>
      </p:sp>
      <p:sp>
        <p:nvSpPr>
          <p:cNvPr id="34" name="Text 31"/>
          <p:cNvSpPr/>
          <p:nvPr/>
        </p:nvSpPr>
        <p:spPr>
          <a:xfrm>
            <a:off x="5727506" y="1962745"/>
            <a:ext cx="2457450" cy="6786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4900"/>
              </a:lnSpc>
              <a:buNone/>
            </a:pPr>
            <a:r>
              <a:rPr lang="en-US" sz="3731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98.78%</a:t>
            </a:r>
            <a:endParaRPr lang="en-US" sz="3731" dirty="0"/>
          </a:p>
        </p:txBody>
      </p:sp>
      <p:sp>
        <p:nvSpPr>
          <p:cNvPr id="35" name="Text 32"/>
          <p:cNvSpPr/>
          <p:nvPr/>
        </p:nvSpPr>
        <p:spPr>
          <a:xfrm>
            <a:off x="5727506" y="2712839"/>
            <a:ext cx="24574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162/164 Problems Solved</a:t>
            </a:r>
            <a:endParaRPr lang="en-US" sz="942" dirty="0"/>
          </a:p>
        </p:txBody>
      </p:sp>
      <p:sp>
        <p:nvSpPr>
          <p:cNvPr id="36" name="Text 33"/>
          <p:cNvSpPr/>
          <p:nvPr/>
        </p:nvSpPr>
        <p:spPr>
          <a:xfrm>
            <a:off x="5727506" y="3082528"/>
            <a:ext cx="2457450" cy="414338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SWE-bench: 299/300 Patches</a:t>
            </a:r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pPr algn="ctr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9 Gates + RARV Cycle Integration</a:t>
            </a:r>
            <a:endParaRPr lang="en-US" sz="727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4356" y="421481"/>
            <a:ext cx="8572500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Multi-Provider &amp; Memory Systems</a:t>
            </a:r>
            <a:endParaRPr lang="en-US" sz="2436" dirty="0"/>
          </a:p>
        </p:txBody>
      </p:sp>
      <p:sp>
        <p:nvSpPr>
          <p:cNvPr id="4" name="Shape 1"/>
          <p:cNvSpPr/>
          <p:nvPr/>
        </p:nvSpPr>
        <p:spPr>
          <a:xfrm>
            <a:off x="564356" y="1121569"/>
            <a:ext cx="2476509" cy="4014788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956" y="1371600"/>
            <a:ext cx="171450" cy="228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92956" y="1798439"/>
            <a:ext cx="201930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5-PROVIDER ERA</a:t>
            </a:r>
            <a:endParaRPr lang="en-US" sz="1193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56" y="2177058"/>
            <a:ext cx="100013" cy="10001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78694" y="2148483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Full multi-agent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 support</a:t>
            </a:r>
            <a:endParaRPr lang="en-US" sz="784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956" y="2613161"/>
            <a:ext cx="100013" cy="100013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978694" y="2584586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Cline CLI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Near-full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subagent/MCP support</a:t>
            </a:r>
            <a:endParaRPr lang="en-US" sz="784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956" y="3049265"/>
            <a:ext cx="100013" cy="100013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978694" y="3020690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Aider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18+ model provider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</a:t>
            </a:r>
            <a:endParaRPr lang="en-US" sz="784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956" y="3485369"/>
            <a:ext cx="100013" cy="100013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978694" y="3456794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Codex/Gemini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Sequential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execution</a:t>
            </a:r>
            <a:endParaRPr lang="en-US" sz="784" dirty="0"/>
          </a:p>
        </p:txBody>
      </p:sp>
      <p:sp>
        <p:nvSpPr>
          <p:cNvPr id="15" name="Shape 7"/>
          <p:cNvSpPr/>
          <p:nvPr/>
        </p:nvSpPr>
        <p:spPr>
          <a:xfrm>
            <a:off x="3326616" y="1121569"/>
            <a:ext cx="2476509" cy="4014788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5216" y="1371600"/>
            <a:ext cx="228600" cy="228600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3555216" y="1798439"/>
            <a:ext cx="201930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 SYSTEMS</a:t>
            </a:r>
            <a:endParaRPr lang="en-US" sz="1193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5216" y="2177058"/>
            <a:ext cx="100013" cy="100013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3740953" y="2148483"/>
            <a:ext cx="1771650" cy="1617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Episodic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Full interaction traces</a:t>
            </a:r>
            <a:endParaRPr lang="en-US" sz="784" dirty="0"/>
          </a:p>
        </p:txBody>
      </p:sp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5216" y="2453153"/>
            <a:ext cx="87511" cy="100013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3728451" y="2424578"/>
            <a:ext cx="1734145" cy="1617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Semantic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Generalized patterns</a:t>
            </a:r>
            <a:endParaRPr lang="en-US" sz="784" dirty="0"/>
          </a:p>
        </p:txBody>
      </p:sp>
      <p:pic>
        <p:nvPicPr>
          <p:cNvPr id="2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55216" y="2729247"/>
            <a:ext cx="125016" cy="100013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765956" y="2700672"/>
            <a:ext cx="1808569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Zettelkasten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Cross-note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linking</a:t>
            </a:r>
            <a:endParaRPr lang="en-US" sz="784" dirty="0"/>
          </a:p>
        </p:txBody>
      </p:sp>
      <p:pic>
        <p:nvPicPr>
          <p:cNvPr id="2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55216" y="3165351"/>
            <a:ext cx="100013" cy="100013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3740953" y="3136776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Consolidation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Experience to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</a:t>
            </a:r>
            <a:endParaRPr lang="en-US" sz="784" dirty="0"/>
          </a:p>
        </p:txBody>
      </p:sp>
      <p:sp>
        <p:nvSpPr>
          <p:cNvPr id="26" name="Shape 13"/>
          <p:cNvSpPr/>
          <p:nvPr/>
        </p:nvSpPr>
        <p:spPr>
          <a:xfrm>
            <a:off x="6088875" y="1121569"/>
            <a:ext cx="2476509" cy="4014788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pic>
        <p:nvPicPr>
          <p:cNvPr id="2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7475" y="1371600"/>
            <a:ext cx="228600" cy="228600"/>
          </a:xfrm>
          <a:prstGeom prst="rect">
            <a:avLst/>
          </a:prstGeom>
        </p:spPr>
      </p:pic>
      <p:sp>
        <p:nvSpPr>
          <p:cNvPr id="28" name="Text 14"/>
          <p:cNvSpPr/>
          <p:nvPr/>
        </p:nvSpPr>
        <p:spPr>
          <a:xfrm>
            <a:off x="6317475" y="1798439"/>
            <a:ext cx="2019309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PROGRESSIVE ISOLATION</a:t>
            </a:r>
            <a:endParaRPr lang="en-US" sz="1193" dirty="0"/>
          </a:p>
        </p:txBody>
      </p:sp>
      <p:pic>
        <p:nvPicPr>
          <p:cNvPr id="2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7475" y="2384227"/>
            <a:ext cx="87511" cy="100013"/>
          </a:xfrm>
          <a:prstGeom prst="rect">
            <a:avLst/>
          </a:prstGeom>
        </p:spPr>
      </p:pic>
      <p:sp>
        <p:nvSpPr>
          <p:cNvPr id="30" name="Text 15"/>
          <p:cNvSpPr/>
          <p:nvPr/>
        </p:nvSpPr>
        <p:spPr>
          <a:xfrm>
            <a:off x="6490711" y="2355652"/>
            <a:ext cx="1725216" cy="1617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--worktree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Isolated execution</a:t>
            </a:r>
            <a:endParaRPr lang="en-US" sz="784" dirty="0"/>
          </a:p>
        </p:txBody>
      </p:sp>
      <p:pic>
        <p:nvPicPr>
          <p:cNvPr id="3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17475" y="2660321"/>
            <a:ext cx="87511" cy="100013"/>
          </a:xfrm>
          <a:prstGeom prst="rect">
            <a:avLst/>
          </a:prstGeom>
        </p:spPr>
      </p:pic>
      <p:sp>
        <p:nvSpPr>
          <p:cNvPr id="32" name="Text 16"/>
          <p:cNvSpPr/>
          <p:nvPr/>
        </p:nvSpPr>
        <p:spPr>
          <a:xfrm>
            <a:off x="6490711" y="2631746"/>
            <a:ext cx="1732359" cy="1617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--pr / --ship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Git automation</a:t>
            </a:r>
            <a:endParaRPr lang="en-US" sz="784" dirty="0"/>
          </a:p>
        </p:txBody>
      </p:sp>
      <p:pic>
        <p:nvPicPr>
          <p:cNvPr id="3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17475" y="2936416"/>
            <a:ext cx="112514" cy="100013"/>
          </a:xfrm>
          <a:prstGeom prst="rect">
            <a:avLst/>
          </a:prstGeom>
        </p:spPr>
      </p:pic>
      <p:sp>
        <p:nvSpPr>
          <p:cNvPr id="34" name="Text 17"/>
          <p:cNvSpPr/>
          <p:nvPr/>
        </p:nvSpPr>
        <p:spPr>
          <a:xfrm>
            <a:off x="6515714" y="2907841"/>
            <a:ext cx="1816298" cy="1617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--detach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Background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execution</a:t>
            </a:r>
            <a:endParaRPr lang="en-US" sz="784" dirty="0"/>
          </a:p>
        </p:txBody>
      </p:sp>
      <p:pic>
        <p:nvPicPr>
          <p:cNvPr id="3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17475" y="3212511"/>
            <a:ext cx="100013" cy="100013"/>
          </a:xfrm>
          <a:prstGeom prst="rect">
            <a:avLst/>
          </a:prstGeom>
        </p:spPr>
      </p:pic>
      <p:sp>
        <p:nvSpPr>
          <p:cNvPr id="36" name="Text 18"/>
          <p:cNvSpPr/>
          <p:nvPr/>
        </p:nvSpPr>
        <p:spPr>
          <a:xfrm>
            <a:off x="6503212" y="3183936"/>
            <a:ext cx="1752005" cy="1617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Presets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AWS/GCP/Azure/Kube</a:t>
            </a:r>
            <a:endParaRPr lang="en-US" sz="78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4356" y="421481"/>
            <a:ext cx="8572500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Platform Hardening</a:t>
            </a:r>
            <a:endParaRPr lang="en-US" sz="2436" dirty="0"/>
          </a:p>
        </p:txBody>
      </p:sp>
      <p:sp>
        <p:nvSpPr>
          <p:cNvPr id="4" name="Shape 1"/>
          <p:cNvSpPr/>
          <p:nvPr/>
        </p:nvSpPr>
        <p:spPr>
          <a:xfrm>
            <a:off x="564356" y="1121569"/>
            <a:ext cx="2476509" cy="4014788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956" y="1371600"/>
            <a:ext cx="228600" cy="228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92956" y="1798439"/>
            <a:ext cx="2019309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CONCURRENT SESSIONS</a:t>
            </a:r>
            <a:endParaRPr lang="en-US" sz="1193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56" y="2384227"/>
            <a:ext cx="100013" cy="10001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78694" y="2355652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loki run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Parallel execution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multiple issues</a:t>
            </a:r>
            <a:endParaRPr lang="en-US" sz="784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956" y="2820330"/>
            <a:ext cx="100013" cy="100013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978694" y="2791755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Session Locking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Per-session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PID/lock files</a:t>
            </a:r>
            <a:endParaRPr lang="en-US" sz="784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956" y="3256434"/>
            <a:ext cx="100013" cy="100013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978694" y="3227859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Detached Mode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No-hup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background runs</a:t>
            </a:r>
            <a:endParaRPr lang="en-US" sz="784" dirty="0"/>
          </a:p>
        </p:txBody>
      </p:sp>
      <p:sp>
        <p:nvSpPr>
          <p:cNvPr id="13" name="Shape 6"/>
          <p:cNvSpPr/>
          <p:nvPr/>
        </p:nvSpPr>
        <p:spPr>
          <a:xfrm>
            <a:off x="3326616" y="1121569"/>
            <a:ext cx="2476509" cy="4014788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5216" y="1371600"/>
            <a:ext cx="228600" cy="22860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3555216" y="1798439"/>
            <a:ext cx="2019309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ENGINE V2</a:t>
            </a:r>
            <a:endParaRPr lang="en-US" sz="1193" dirty="0"/>
          </a:p>
        </p:txBody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5216" y="2384227"/>
            <a:ext cx="100013" cy="100013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3740953" y="2355652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Deterministic Hooks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post_file_edit, post_step</a:t>
            </a:r>
            <a:endParaRPr lang="en-US" sz="784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5216" y="2820330"/>
            <a:ext cx="100013" cy="100013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3740953" y="2791755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Gates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Immutable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 gates</a:t>
            </a:r>
            <a:endParaRPr lang="en-US" sz="784" dirty="0"/>
          </a:p>
        </p:txBody>
      </p:sp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5216" y="3256434"/>
            <a:ext cx="100013" cy="100013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3740953" y="3227859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Auto-Rollback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Immediate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recovery on fail</a:t>
            </a:r>
            <a:endParaRPr lang="en-US" sz="784" dirty="0"/>
          </a:p>
        </p:txBody>
      </p:sp>
      <p:sp>
        <p:nvSpPr>
          <p:cNvPr id="22" name="Shape 11"/>
          <p:cNvSpPr/>
          <p:nvPr/>
        </p:nvSpPr>
        <p:spPr>
          <a:xfrm>
            <a:off x="6088875" y="1121569"/>
            <a:ext cx="2476509" cy="4014788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pic>
        <p:nvPicPr>
          <p:cNvPr id="2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7475" y="1371600"/>
            <a:ext cx="228600" cy="228600"/>
          </a:xfrm>
          <a:prstGeom prst="rect">
            <a:avLst/>
          </a:prstGeom>
        </p:spPr>
      </p:pic>
      <p:sp>
        <p:nvSpPr>
          <p:cNvPr id="24" name="Text 12"/>
          <p:cNvSpPr/>
          <p:nvPr/>
        </p:nvSpPr>
        <p:spPr>
          <a:xfrm>
            <a:off x="6317475" y="1798439"/>
            <a:ext cx="201930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193" dirty="0"/>
          </a:p>
        </p:txBody>
      </p:sp>
      <p:pic>
        <p:nvPicPr>
          <p:cNvPr id="2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7475" y="2177058"/>
            <a:ext cx="100013" cy="100013"/>
          </a:xfrm>
          <a:prstGeom prst="rect">
            <a:avLst/>
          </a:prstGeom>
        </p:spPr>
      </p:pic>
      <p:sp>
        <p:nvSpPr>
          <p:cNvPr id="26" name="Text 13"/>
          <p:cNvSpPr/>
          <p:nvPr/>
        </p:nvSpPr>
        <p:spPr>
          <a:xfrm>
            <a:off x="6503212" y="2148483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SQLite State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High-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performance state mirroring</a:t>
            </a:r>
            <a:endParaRPr lang="en-US" sz="784" dirty="0"/>
          </a:p>
        </p:txBody>
      </p:sp>
      <p:pic>
        <p:nvPicPr>
          <p:cNvPr id="2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7475" y="2613161"/>
            <a:ext cx="100013" cy="100013"/>
          </a:xfrm>
          <a:prstGeom prst="rect">
            <a:avLst/>
          </a:prstGeom>
        </p:spPr>
      </p:pic>
      <p:sp>
        <p:nvSpPr>
          <p:cNvPr id="28" name="Text 14"/>
          <p:cNvSpPr/>
          <p:nvPr/>
        </p:nvSpPr>
        <p:spPr>
          <a:xfrm>
            <a:off x="6503212" y="2584586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Audit Trails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Full trace of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actions</a:t>
            </a:r>
            <a:endParaRPr lang="en-US" sz="784" dirty="0"/>
          </a:p>
        </p:txBody>
      </p:sp>
      <p:pic>
        <p:nvPicPr>
          <p:cNvPr id="2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7475" y="3049265"/>
            <a:ext cx="100013" cy="100013"/>
          </a:xfrm>
          <a:prstGeom prst="rect">
            <a:avLst/>
          </a:prstGeom>
        </p:spPr>
      </p:pic>
      <p:sp>
        <p:nvSpPr>
          <p:cNvPr id="30" name="Text 15"/>
          <p:cNvSpPr/>
          <p:nvPr/>
        </p:nvSpPr>
        <p:spPr>
          <a:xfrm>
            <a:off x="6503212" y="3020690"/>
            <a:ext cx="1833572" cy="321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Dashboard v2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Real-time </a:t>
            </a:r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WebSocket monitoring</a:t>
            </a:r>
            <a:endParaRPr lang="en-US" sz="784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4356" y="421481"/>
            <a:ext cx="8572500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Real-World Use Cases</a:t>
            </a:r>
            <a:endParaRPr lang="en-US" sz="2436" dirty="0"/>
          </a:p>
        </p:txBody>
      </p:sp>
      <p:sp>
        <p:nvSpPr>
          <p:cNvPr id="4" name="Shape 1"/>
          <p:cNvSpPr/>
          <p:nvPr/>
        </p:nvSpPr>
        <p:spPr>
          <a:xfrm>
            <a:off x="564356" y="1050131"/>
            <a:ext cx="8001000" cy="323255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806" y="1147465"/>
            <a:ext cx="128588" cy="1143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7269" y="1135856"/>
            <a:ext cx="5650706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BMAD METHOD NATIVE INTEGRATION: Consume product briefs and PRDs directly via --bmad-project</a:t>
            </a:r>
            <a:endParaRPr lang="en-US" sz="784" dirty="0"/>
          </a:p>
        </p:txBody>
      </p:sp>
      <p:sp>
        <p:nvSpPr>
          <p:cNvPr id="7" name="Shape 3"/>
          <p:cNvSpPr/>
          <p:nvPr/>
        </p:nvSpPr>
        <p:spPr>
          <a:xfrm>
            <a:off x="564356" y="1501973"/>
            <a:ext cx="3893344" cy="1567160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806" y="1682353"/>
            <a:ext cx="171450" cy="1714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14413" y="1673423"/>
            <a:ext cx="1839516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Management SaaS</a:t>
            </a:r>
            <a:endParaRPr lang="en-US" sz="1090" dirty="0"/>
          </a:p>
        </p:txBody>
      </p:sp>
      <p:sp>
        <p:nvSpPr>
          <p:cNvPr id="10" name="Text 5"/>
          <p:cNvSpPr/>
          <p:nvPr/>
        </p:nvSpPr>
        <p:spPr>
          <a:xfrm>
            <a:off x="735806" y="1977033"/>
            <a:ext cx="35504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Full-stack application with complex auth and real-time sync. Built from BMAD epic/story breakdowns.</a:t>
            </a:r>
            <a:endParaRPr lang="en-US" sz="834" dirty="0"/>
          </a:p>
        </p:txBody>
      </p:sp>
      <p:sp>
        <p:nvSpPr>
          <p:cNvPr id="11" name="Shape 6"/>
          <p:cNvSpPr/>
          <p:nvPr/>
        </p:nvSpPr>
        <p:spPr>
          <a:xfrm>
            <a:off x="735806" y="2522637"/>
            <a:ext cx="519708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35806" y="2522637"/>
            <a:ext cx="519708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Next.js</a:t>
            </a:r>
            <a:endParaRPr lang="en-US" sz="621" dirty="0"/>
          </a:p>
        </p:txBody>
      </p:sp>
      <p:sp>
        <p:nvSpPr>
          <p:cNvPr id="13" name="Shape 8"/>
          <p:cNvSpPr/>
          <p:nvPr/>
        </p:nvSpPr>
        <p:spPr>
          <a:xfrm>
            <a:off x="1298377" y="2522637"/>
            <a:ext cx="675084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1298377" y="2522637"/>
            <a:ext cx="675084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TypeScript</a:t>
            </a:r>
            <a:endParaRPr lang="en-US" sz="621" dirty="0"/>
          </a:p>
        </p:txBody>
      </p:sp>
      <p:sp>
        <p:nvSpPr>
          <p:cNvPr id="15" name="Shape 10"/>
          <p:cNvSpPr/>
          <p:nvPr/>
        </p:nvSpPr>
        <p:spPr>
          <a:xfrm>
            <a:off x="2016323" y="2522637"/>
            <a:ext cx="467916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016323" y="2522637"/>
            <a:ext cx="467916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Prisma</a:t>
            </a:r>
            <a:endParaRPr lang="en-US" sz="621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806" y="2802136"/>
            <a:ext cx="107156" cy="857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85825" y="2792313"/>
            <a:ext cx="1005483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AUTONOMOUSLY</a:t>
            </a:r>
            <a:endParaRPr lang="en-US" sz="584" dirty="0"/>
          </a:p>
        </p:txBody>
      </p:sp>
      <p:sp>
        <p:nvSpPr>
          <p:cNvPr id="19" name="Shape 13"/>
          <p:cNvSpPr/>
          <p:nvPr/>
        </p:nvSpPr>
        <p:spPr>
          <a:xfrm>
            <a:off x="4672013" y="1501973"/>
            <a:ext cx="3893344" cy="1567160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463" y="1682353"/>
            <a:ext cx="192881" cy="17145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143500" y="1673423"/>
            <a:ext cx="169485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E-Commerce Platform</a:t>
            </a:r>
            <a:endParaRPr lang="en-US" sz="1090" dirty="0"/>
          </a:p>
        </p:txBody>
      </p:sp>
      <p:sp>
        <p:nvSpPr>
          <p:cNvPr id="22" name="Text 15"/>
          <p:cNvSpPr/>
          <p:nvPr/>
        </p:nvSpPr>
        <p:spPr>
          <a:xfrm>
            <a:off x="4843463" y="1977033"/>
            <a:ext cx="35504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High-performance React storefront with Stripe integration. Generated from a single BMAD PRD.</a:t>
            </a:r>
            <a:endParaRPr lang="en-US" sz="834" dirty="0"/>
          </a:p>
        </p:txBody>
      </p:sp>
      <p:sp>
        <p:nvSpPr>
          <p:cNvPr id="23" name="Shape 16"/>
          <p:cNvSpPr/>
          <p:nvPr/>
        </p:nvSpPr>
        <p:spPr>
          <a:xfrm>
            <a:off x="4843463" y="2515493"/>
            <a:ext cx="416123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4843463" y="2515493"/>
            <a:ext cx="416123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React</a:t>
            </a:r>
            <a:endParaRPr lang="en-US" sz="621" dirty="0"/>
          </a:p>
        </p:txBody>
      </p:sp>
      <p:sp>
        <p:nvSpPr>
          <p:cNvPr id="25" name="Shape 18"/>
          <p:cNvSpPr/>
          <p:nvPr/>
        </p:nvSpPr>
        <p:spPr>
          <a:xfrm>
            <a:off x="5302448" y="2515493"/>
            <a:ext cx="519708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02448" y="2515493"/>
            <a:ext cx="519708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Node.js</a:t>
            </a:r>
            <a:endParaRPr lang="en-US" sz="621" dirty="0"/>
          </a:p>
        </p:txBody>
      </p:sp>
      <p:sp>
        <p:nvSpPr>
          <p:cNvPr id="27" name="Shape 20"/>
          <p:cNvSpPr/>
          <p:nvPr/>
        </p:nvSpPr>
        <p:spPr>
          <a:xfrm>
            <a:off x="5865019" y="2515493"/>
            <a:ext cx="467916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5865019" y="2515493"/>
            <a:ext cx="467916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Stripe</a:t>
            </a:r>
            <a:endParaRPr lang="en-US" sz="621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3463" y="2787848"/>
            <a:ext cx="107156" cy="85725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993481" y="2778026"/>
            <a:ext cx="1005483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AUTONOMOUSLY</a:t>
            </a:r>
            <a:endParaRPr lang="en-US" sz="584" dirty="0"/>
          </a:p>
        </p:txBody>
      </p:sp>
      <p:sp>
        <p:nvSpPr>
          <p:cNvPr id="31" name="Shape 23"/>
          <p:cNvSpPr/>
          <p:nvPr/>
        </p:nvSpPr>
        <p:spPr>
          <a:xfrm>
            <a:off x="564356" y="3269159"/>
            <a:ext cx="3893344" cy="1581448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5806" y="3449538"/>
            <a:ext cx="192881" cy="17145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035844" y="3440609"/>
            <a:ext cx="165735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Dashboard</a:t>
            </a:r>
            <a:endParaRPr lang="en-US" sz="1090" dirty="0"/>
          </a:p>
        </p:txBody>
      </p:sp>
      <p:sp>
        <p:nvSpPr>
          <p:cNvPr id="34" name="Text 25"/>
          <p:cNvSpPr/>
          <p:nvPr/>
        </p:nvSpPr>
        <p:spPr>
          <a:xfrm>
            <a:off x="735806" y="3744218"/>
            <a:ext cx="35504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analytics dashboard with D3.js visualizations. Integrated with SQLite state layer.</a:t>
            </a:r>
            <a:endParaRPr lang="en-US" sz="834" dirty="0"/>
          </a:p>
        </p:txBody>
      </p:sp>
      <p:sp>
        <p:nvSpPr>
          <p:cNvPr id="35" name="Shape 26"/>
          <p:cNvSpPr/>
          <p:nvPr/>
        </p:nvSpPr>
        <p:spPr>
          <a:xfrm>
            <a:off x="735806" y="4304109"/>
            <a:ext cx="416123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36" name="Text 27"/>
          <p:cNvSpPr/>
          <p:nvPr/>
        </p:nvSpPr>
        <p:spPr>
          <a:xfrm>
            <a:off x="735806" y="4304109"/>
            <a:ext cx="416123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React</a:t>
            </a:r>
            <a:endParaRPr lang="en-US" sz="621" dirty="0"/>
          </a:p>
        </p:txBody>
      </p:sp>
      <p:sp>
        <p:nvSpPr>
          <p:cNvPr id="37" name="Shape 28"/>
          <p:cNvSpPr/>
          <p:nvPr/>
        </p:nvSpPr>
        <p:spPr>
          <a:xfrm>
            <a:off x="1194792" y="4304109"/>
            <a:ext cx="416123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1194792" y="4304109"/>
            <a:ext cx="416123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D3.js</a:t>
            </a:r>
            <a:endParaRPr lang="en-US" sz="621" dirty="0"/>
          </a:p>
        </p:txBody>
      </p:sp>
      <p:sp>
        <p:nvSpPr>
          <p:cNvPr id="39" name="Shape 30"/>
          <p:cNvSpPr/>
          <p:nvPr/>
        </p:nvSpPr>
        <p:spPr>
          <a:xfrm>
            <a:off x="1653778" y="4304109"/>
            <a:ext cx="623292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1653778" y="4304109"/>
            <a:ext cx="623292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WebSocket</a:t>
            </a:r>
            <a:endParaRPr lang="en-US" sz="621" dirty="0"/>
          </a:p>
        </p:txBody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806" y="4583609"/>
            <a:ext cx="107156" cy="85725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885825" y="4573786"/>
            <a:ext cx="1005483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AUTONOMOUSLY</a:t>
            </a:r>
            <a:endParaRPr lang="en-US" sz="584" dirty="0"/>
          </a:p>
        </p:txBody>
      </p:sp>
      <p:sp>
        <p:nvSpPr>
          <p:cNvPr id="43" name="Shape 33"/>
          <p:cNvSpPr/>
          <p:nvPr/>
        </p:nvSpPr>
        <p:spPr>
          <a:xfrm>
            <a:off x="4672013" y="3269159"/>
            <a:ext cx="3893344" cy="1581448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6366F1">
                <a:alpha val="30000"/>
              </a:srgbClr>
            </a:solidFill>
            <a:prstDash val="solid"/>
          </a:ln>
        </p:spPr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3463" y="3456682"/>
            <a:ext cx="171450" cy="17145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5122069" y="3447752"/>
            <a:ext cx="184844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 Page Generator</a:t>
            </a:r>
            <a:endParaRPr lang="en-US" sz="1090" dirty="0"/>
          </a:p>
        </p:txBody>
      </p:sp>
      <p:sp>
        <p:nvSpPr>
          <p:cNvPr id="46" name="Text 35"/>
          <p:cNvSpPr/>
          <p:nvPr/>
        </p:nvSpPr>
        <p:spPr>
          <a:xfrm>
            <a:off x="4843463" y="3751362"/>
            <a:ext cx="35504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AI-powered marketing engine with A/B testing. Deployed via Vercel with autonomous IaC.</a:t>
            </a:r>
            <a:endParaRPr lang="en-US" sz="834" dirty="0"/>
          </a:p>
        </p:txBody>
      </p:sp>
      <p:sp>
        <p:nvSpPr>
          <p:cNvPr id="47" name="Shape 36"/>
          <p:cNvSpPr/>
          <p:nvPr/>
        </p:nvSpPr>
        <p:spPr>
          <a:xfrm>
            <a:off x="4843463" y="4304109"/>
            <a:ext cx="519708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48" name="Text 37"/>
          <p:cNvSpPr/>
          <p:nvPr/>
        </p:nvSpPr>
        <p:spPr>
          <a:xfrm>
            <a:off x="4843463" y="4304109"/>
            <a:ext cx="519708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Next.js</a:t>
            </a:r>
            <a:endParaRPr lang="en-US" sz="621" dirty="0"/>
          </a:p>
        </p:txBody>
      </p:sp>
      <p:sp>
        <p:nvSpPr>
          <p:cNvPr id="49" name="Shape 38"/>
          <p:cNvSpPr/>
          <p:nvPr/>
        </p:nvSpPr>
        <p:spPr>
          <a:xfrm>
            <a:off x="5406033" y="4304109"/>
            <a:ext cx="571500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5406033" y="4304109"/>
            <a:ext cx="571500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Tailwind</a:t>
            </a:r>
            <a:endParaRPr lang="en-US" sz="621" dirty="0"/>
          </a:p>
        </p:txBody>
      </p:sp>
      <p:sp>
        <p:nvSpPr>
          <p:cNvPr id="51" name="Shape 40"/>
          <p:cNvSpPr/>
          <p:nvPr/>
        </p:nvSpPr>
        <p:spPr>
          <a:xfrm>
            <a:off x="6020395" y="4304109"/>
            <a:ext cx="467916" cy="183952"/>
          </a:xfrm>
          <a:prstGeom prst="rect">
            <a:avLst/>
          </a:prstGeom>
          <a:solidFill>
            <a:srgbClr val="6366F1">
              <a:alpha val="10000"/>
            </a:srgbClr>
          </a:solidFill>
          <a:ln w="9144">
            <a:solidFill>
              <a:srgbClr val="6366F1">
                <a:alpha val="20000"/>
              </a:srgbClr>
            </a:solidFill>
            <a:prstDash val="solid"/>
          </a:ln>
        </p:spPr>
      </p:sp>
      <p:sp>
        <p:nvSpPr>
          <p:cNvPr id="52" name="Text 41"/>
          <p:cNvSpPr/>
          <p:nvPr/>
        </p:nvSpPr>
        <p:spPr>
          <a:xfrm>
            <a:off x="6020395" y="4304109"/>
            <a:ext cx="467916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OpenAI</a:t>
            </a:r>
            <a:endParaRPr lang="en-US" sz="621" dirty="0"/>
          </a:p>
        </p:txBody>
      </p:sp>
      <p:pic>
        <p:nvPicPr>
          <p:cNvPr id="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3463" y="4583609"/>
            <a:ext cx="107156" cy="85725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4993481" y="4573786"/>
            <a:ext cx="1005483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AUTONOMOUSLY</a:t>
            </a:r>
            <a:endParaRPr lang="en-US" sz="584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4356" y="421481"/>
            <a:ext cx="8572500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Loki Mode is Better (v6.6.0)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64356" y="1050131"/>
            <a:ext cx="1600200" cy="448270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</a:t>
            </a:r>
            <a:endParaRPr lang="en-US" sz="885" dirty="0"/>
          </a:p>
        </p:txBody>
      </p:sp>
      <p:sp>
        <p:nvSpPr>
          <p:cNvPr id="5" name="Shape 2"/>
          <p:cNvSpPr/>
          <p:nvPr/>
        </p:nvSpPr>
        <p:spPr>
          <a:xfrm>
            <a:off x="2164556" y="1050131"/>
            <a:ext cx="3200400" cy="44827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Shape 3"/>
          <p:cNvSpPr/>
          <p:nvPr/>
        </p:nvSpPr>
        <p:spPr>
          <a:xfrm>
            <a:off x="2164556" y="1484114"/>
            <a:ext cx="3200400" cy="14288"/>
          </a:xfrm>
          <a:prstGeom prst="rect">
            <a:avLst/>
          </a:prstGeom>
          <a:solidFill>
            <a:srgbClr val="ECECEE"/>
          </a:solidFill>
          <a:ln/>
        </p:spPr>
      </p:sp>
      <p:sp>
        <p:nvSpPr>
          <p:cNvPr id="7" name="Text 4"/>
          <p:cNvSpPr/>
          <p:nvPr/>
        </p:nvSpPr>
        <p:spPr>
          <a:xfrm>
            <a:off x="2164556" y="1050131"/>
            <a:ext cx="3200400" cy="448270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ctr">
            <a:sp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85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MODE (AUTONOMI)</a:t>
            </a:r>
            <a:endParaRPr lang="en-US" sz="885" dirty="0"/>
          </a:p>
        </p:txBody>
      </p:sp>
      <p:sp>
        <p:nvSpPr>
          <p:cNvPr id="8" name="Text 5"/>
          <p:cNvSpPr/>
          <p:nvPr/>
        </p:nvSpPr>
        <p:spPr>
          <a:xfrm>
            <a:off x="5364956" y="1050131"/>
            <a:ext cx="3200400" cy="448270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CREWAI / AUTOGEN / LANGGRAPH</a:t>
            </a:r>
            <a:endParaRPr lang="en-US" sz="885" dirty="0"/>
          </a:p>
        </p:txBody>
      </p:sp>
      <p:sp>
        <p:nvSpPr>
          <p:cNvPr id="9" name="Text 6"/>
          <p:cNvSpPr/>
          <p:nvPr/>
        </p:nvSpPr>
        <p:spPr>
          <a:xfrm>
            <a:off x="564356" y="1498402"/>
            <a:ext cx="1600200" cy="423267"/>
          </a:xfrm>
          <a:prstGeom prst="rect">
            <a:avLst/>
          </a:prstGeom>
          <a:noFill/>
          <a:ln/>
        </p:spPr>
        <p:txBody>
          <a:bodyPr wrap="square" lIns="170053" tIns="153035" rIns="170053" bIns="153035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</a:t>
            </a:r>
            <a:endParaRPr lang="en-US" sz="885" dirty="0"/>
          </a:p>
        </p:txBody>
      </p:sp>
      <p:sp>
        <p:nvSpPr>
          <p:cNvPr id="10" name="Shape 7"/>
          <p:cNvSpPr/>
          <p:nvPr/>
        </p:nvSpPr>
        <p:spPr>
          <a:xfrm>
            <a:off x="2164556" y="1498402"/>
            <a:ext cx="3200400" cy="423267"/>
          </a:xfrm>
          <a:prstGeom prst="rect">
            <a:avLst/>
          </a:prstGeom>
          <a:solidFill>
            <a:srgbClr val="6366F1">
              <a:alpha val="5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5350669" y="1498402"/>
            <a:ext cx="14288" cy="423267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2" name="Shape 9"/>
          <p:cNvSpPr/>
          <p:nvPr/>
        </p:nvSpPr>
        <p:spPr>
          <a:xfrm>
            <a:off x="2164556" y="1914525"/>
            <a:ext cx="3200400" cy="7144"/>
          </a:xfrm>
          <a:prstGeom prst="rect">
            <a:avLst/>
          </a:prstGeom>
          <a:solidFill>
            <a:srgbClr val="F6F6F7"/>
          </a:solidFill>
          <a:ln/>
        </p:spPr>
      </p:sp>
      <p:sp>
        <p:nvSpPr>
          <p:cNvPr id="13" name="Shape 10"/>
          <p:cNvSpPr/>
          <p:nvPr/>
        </p:nvSpPr>
        <p:spPr>
          <a:xfrm>
            <a:off x="2164556" y="1498402"/>
            <a:ext cx="14288" cy="423267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7431" y="1644848"/>
            <a:ext cx="128588" cy="1285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493169" y="1632347"/>
            <a:ext cx="223778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PRD to Deployment + Business Ops</a:t>
            </a:r>
            <a:endParaRPr lang="en-US" sz="885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507831" y="1646634"/>
            <a:ext cx="128588" cy="1285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93569" y="1634133"/>
            <a:ext cx="193417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Primarily Code or Task focused</a:t>
            </a:r>
            <a:endParaRPr lang="en-US" sz="942" dirty="0"/>
          </a:p>
        </p:txBody>
      </p:sp>
      <p:sp>
        <p:nvSpPr>
          <p:cNvPr id="18" name="Text 13"/>
          <p:cNvSpPr/>
          <p:nvPr/>
        </p:nvSpPr>
        <p:spPr>
          <a:xfrm>
            <a:off x="564356" y="1921669"/>
            <a:ext cx="1600200" cy="419695"/>
          </a:xfrm>
          <a:prstGeom prst="rect">
            <a:avLst/>
          </a:prstGeom>
          <a:noFill/>
          <a:ln/>
        </p:spPr>
        <p:txBody>
          <a:bodyPr wrap="square" lIns="170053" tIns="153035" rIns="170053" bIns="153035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Parallelism</a:t>
            </a:r>
            <a:endParaRPr lang="en-US" sz="885" dirty="0"/>
          </a:p>
        </p:txBody>
      </p:sp>
      <p:sp>
        <p:nvSpPr>
          <p:cNvPr id="19" name="Shape 14"/>
          <p:cNvSpPr/>
          <p:nvPr/>
        </p:nvSpPr>
        <p:spPr>
          <a:xfrm>
            <a:off x="2164556" y="1921669"/>
            <a:ext cx="3200400" cy="419695"/>
          </a:xfrm>
          <a:prstGeom prst="rect">
            <a:avLst/>
          </a:prstGeom>
          <a:solidFill>
            <a:srgbClr val="6366F1">
              <a:alpha val="5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5350669" y="1921669"/>
            <a:ext cx="14288" cy="419695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1" name="Shape 16"/>
          <p:cNvSpPr/>
          <p:nvPr/>
        </p:nvSpPr>
        <p:spPr>
          <a:xfrm>
            <a:off x="2164556" y="2334220"/>
            <a:ext cx="3200400" cy="7144"/>
          </a:xfrm>
          <a:prstGeom prst="rect">
            <a:avLst/>
          </a:prstGeom>
          <a:solidFill>
            <a:srgbClr val="F6F6F7"/>
          </a:solidFill>
          <a:ln/>
        </p:spPr>
      </p:sp>
      <p:sp>
        <p:nvSpPr>
          <p:cNvPr id="22" name="Shape 17"/>
          <p:cNvSpPr/>
          <p:nvPr/>
        </p:nvSpPr>
        <p:spPr>
          <a:xfrm>
            <a:off x="2164556" y="1921669"/>
            <a:ext cx="14288" cy="419695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7431" y="2066330"/>
            <a:ext cx="128588" cy="12858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493169" y="2053828"/>
            <a:ext cx="230921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 Agents + Recursive Sub-Planning</a:t>
            </a:r>
            <a:endParaRPr lang="en-US" sz="885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5507831" y="2066330"/>
            <a:ext cx="128588" cy="12858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693569" y="2053828"/>
            <a:ext cx="185380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Typically linear or small teams</a:t>
            </a:r>
            <a:endParaRPr lang="en-US" sz="942" dirty="0"/>
          </a:p>
        </p:txBody>
      </p:sp>
      <p:sp>
        <p:nvSpPr>
          <p:cNvPr id="27" name="Text 20"/>
          <p:cNvSpPr/>
          <p:nvPr/>
        </p:nvSpPr>
        <p:spPr>
          <a:xfrm>
            <a:off x="564356" y="2341364"/>
            <a:ext cx="1600200" cy="419695"/>
          </a:xfrm>
          <a:prstGeom prst="rect">
            <a:avLst/>
          </a:prstGeom>
          <a:noFill/>
          <a:ln/>
        </p:spPr>
        <p:txBody>
          <a:bodyPr wrap="square" lIns="170053" tIns="153035" rIns="170053" bIns="153035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885" dirty="0"/>
          </a:p>
        </p:txBody>
      </p:sp>
      <p:sp>
        <p:nvSpPr>
          <p:cNvPr id="28" name="Shape 21"/>
          <p:cNvSpPr/>
          <p:nvPr/>
        </p:nvSpPr>
        <p:spPr>
          <a:xfrm>
            <a:off x="2164556" y="2341364"/>
            <a:ext cx="3200400" cy="419695"/>
          </a:xfrm>
          <a:prstGeom prst="rect">
            <a:avLst/>
          </a:prstGeom>
          <a:solidFill>
            <a:srgbClr val="6366F1">
              <a:alpha val="5000"/>
            </a:srgbClr>
          </a:solidFill>
          <a:ln/>
        </p:spPr>
      </p:sp>
      <p:sp>
        <p:nvSpPr>
          <p:cNvPr id="29" name="Shape 22"/>
          <p:cNvSpPr/>
          <p:nvPr/>
        </p:nvSpPr>
        <p:spPr>
          <a:xfrm>
            <a:off x="5350669" y="2341364"/>
            <a:ext cx="14288" cy="419695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0" name="Shape 23"/>
          <p:cNvSpPr/>
          <p:nvPr/>
        </p:nvSpPr>
        <p:spPr>
          <a:xfrm>
            <a:off x="2164556" y="2753916"/>
            <a:ext cx="3200400" cy="7144"/>
          </a:xfrm>
          <a:prstGeom prst="rect">
            <a:avLst/>
          </a:prstGeom>
          <a:solidFill>
            <a:srgbClr val="F6F6F7"/>
          </a:solidFill>
          <a:ln/>
        </p:spPr>
      </p:sp>
      <p:sp>
        <p:nvSpPr>
          <p:cNvPr id="31" name="Shape 24"/>
          <p:cNvSpPr/>
          <p:nvPr/>
        </p:nvSpPr>
        <p:spPr>
          <a:xfrm>
            <a:off x="2164556" y="2341364"/>
            <a:ext cx="14288" cy="419695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07431" y="2486025"/>
            <a:ext cx="128588" cy="12858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2493169" y="2473523"/>
            <a:ext cx="178058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9-Gate Blind Review + CoVe</a:t>
            </a:r>
            <a:endParaRPr lang="en-US" sz="885" dirty="0"/>
          </a:p>
        </p:txBody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>
            <a:alphaModFix amt="50000"/>
          </a:blip>
          <a:stretch>
            <a:fillRect/>
          </a:stretch>
        </p:blipFill>
        <p:spPr>
          <a:xfrm>
            <a:off x="5507831" y="2486025"/>
            <a:ext cx="128588" cy="12858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5693569" y="2473523"/>
            <a:ext cx="204489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reflection or manual review</a:t>
            </a:r>
            <a:endParaRPr lang="en-US" sz="942" dirty="0"/>
          </a:p>
        </p:txBody>
      </p:sp>
      <p:sp>
        <p:nvSpPr>
          <p:cNvPr id="36" name="Text 27"/>
          <p:cNvSpPr/>
          <p:nvPr/>
        </p:nvSpPr>
        <p:spPr>
          <a:xfrm>
            <a:off x="564356" y="2761059"/>
            <a:ext cx="1600200" cy="419695"/>
          </a:xfrm>
          <a:prstGeom prst="rect">
            <a:avLst/>
          </a:prstGeom>
          <a:noFill/>
          <a:ln/>
        </p:spPr>
        <p:txBody>
          <a:bodyPr wrap="square" lIns="170053" tIns="153035" rIns="170053" bIns="153035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885" dirty="0"/>
          </a:p>
        </p:txBody>
      </p:sp>
      <p:sp>
        <p:nvSpPr>
          <p:cNvPr id="37" name="Shape 28"/>
          <p:cNvSpPr/>
          <p:nvPr/>
        </p:nvSpPr>
        <p:spPr>
          <a:xfrm>
            <a:off x="2164556" y="2761059"/>
            <a:ext cx="3200400" cy="419695"/>
          </a:xfrm>
          <a:prstGeom prst="rect">
            <a:avLst/>
          </a:prstGeom>
          <a:solidFill>
            <a:srgbClr val="6366F1">
              <a:alpha val="5000"/>
            </a:srgbClr>
          </a:solidFill>
          <a:ln/>
        </p:spPr>
      </p:sp>
      <p:sp>
        <p:nvSpPr>
          <p:cNvPr id="38" name="Shape 29"/>
          <p:cNvSpPr/>
          <p:nvPr/>
        </p:nvSpPr>
        <p:spPr>
          <a:xfrm>
            <a:off x="5350669" y="2761059"/>
            <a:ext cx="14288" cy="419695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9" name="Shape 30"/>
          <p:cNvSpPr/>
          <p:nvPr/>
        </p:nvSpPr>
        <p:spPr>
          <a:xfrm>
            <a:off x="2164556" y="3173611"/>
            <a:ext cx="3200400" cy="7144"/>
          </a:xfrm>
          <a:prstGeom prst="rect">
            <a:avLst/>
          </a:prstGeom>
          <a:solidFill>
            <a:srgbClr val="F6F6F7"/>
          </a:solidFill>
          <a:ln/>
        </p:spPr>
      </p:sp>
      <p:sp>
        <p:nvSpPr>
          <p:cNvPr id="40" name="Shape 31"/>
          <p:cNvSpPr/>
          <p:nvPr/>
        </p:nvSpPr>
        <p:spPr>
          <a:xfrm>
            <a:off x="2164556" y="2761059"/>
            <a:ext cx="14288" cy="419695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07431" y="2905720"/>
            <a:ext cx="128588" cy="128588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2493169" y="2893219"/>
            <a:ext cx="258960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Concurrent Sessions + Per-Session Lock</a:t>
            </a:r>
            <a:endParaRPr lang="en-US" sz="885" dirty="0"/>
          </a:p>
        </p:txBody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5507831" y="2905720"/>
            <a:ext cx="128588" cy="128588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5693569" y="2893219"/>
            <a:ext cx="17537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execution thread only</a:t>
            </a:r>
            <a:endParaRPr lang="en-US" sz="942" dirty="0"/>
          </a:p>
        </p:txBody>
      </p:sp>
      <p:sp>
        <p:nvSpPr>
          <p:cNvPr id="45" name="Text 34"/>
          <p:cNvSpPr/>
          <p:nvPr/>
        </p:nvSpPr>
        <p:spPr>
          <a:xfrm>
            <a:off x="564356" y="3180755"/>
            <a:ext cx="1600200" cy="419695"/>
          </a:xfrm>
          <a:prstGeom prst="rect">
            <a:avLst/>
          </a:prstGeom>
          <a:noFill/>
          <a:ln/>
        </p:spPr>
        <p:txBody>
          <a:bodyPr wrap="square" lIns="170053" tIns="153035" rIns="170053" bIns="153035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Execution</a:t>
            </a:r>
            <a:endParaRPr lang="en-US" sz="885" dirty="0"/>
          </a:p>
        </p:txBody>
      </p:sp>
      <p:sp>
        <p:nvSpPr>
          <p:cNvPr id="46" name="Shape 35"/>
          <p:cNvSpPr/>
          <p:nvPr/>
        </p:nvSpPr>
        <p:spPr>
          <a:xfrm>
            <a:off x="2164556" y="3180755"/>
            <a:ext cx="3200400" cy="419695"/>
          </a:xfrm>
          <a:prstGeom prst="rect">
            <a:avLst/>
          </a:prstGeom>
          <a:solidFill>
            <a:srgbClr val="6366F1">
              <a:alpha val="5000"/>
            </a:srgbClr>
          </a:solidFill>
          <a:ln/>
        </p:spPr>
      </p:sp>
      <p:sp>
        <p:nvSpPr>
          <p:cNvPr id="47" name="Shape 36"/>
          <p:cNvSpPr/>
          <p:nvPr/>
        </p:nvSpPr>
        <p:spPr>
          <a:xfrm>
            <a:off x="5350669" y="3180755"/>
            <a:ext cx="14288" cy="419695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8" name="Shape 37"/>
          <p:cNvSpPr/>
          <p:nvPr/>
        </p:nvSpPr>
        <p:spPr>
          <a:xfrm>
            <a:off x="2164556" y="3593306"/>
            <a:ext cx="3200400" cy="7144"/>
          </a:xfrm>
          <a:prstGeom prst="rect">
            <a:avLst/>
          </a:prstGeom>
          <a:solidFill>
            <a:srgbClr val="F6F6F7"/>
          </a:solidFill>
          <a:ln/>
        </p:spPr>
      </p:sp>
      <p:sp>
        <p:nvSpPr>
          <p:cNvPr id="49" name="Shape 38"/>
          <p:cNvSpPr/>
          <p:nvPr/>
        </p:nvSpPr>
        <p:spPr>
          <a:xfrm>
            <a:off x="2164556" y="3180755"/>
            <a:ext cx="14288" cy="419695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5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07431" y="3325416"/>
            <a:ext cx="128588" cy="128588"/>
          </a:xfrm>
          <a:prstGeom prst="rect">
            <a:avLst/>
          </a:prstGeom>
        </p:spPr>
      </p:pic>
      <p:sp>
        <p:nvSpPr>
          <p:cNvPr id="51" name="Text 39"/>
          <p:cNvSpPr/>
          <p:nvPr/>
        </p:nvSpPr>
        <p:spPr>
          <a:xfrm>
            <a:off x="2493169" y="3312914"/>
            <a:ext cx="181272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RARV + Migration Engine V2</a:t>
            </a:r>
            <a:endParaRPr lang="en-US" sz="885" dirty="0"/>
          </a:p>
        </p:txBody>
      </p:sp>
      <p:pic>
        <p:nvPicPr>
          <p:cNvPr id="52" name="Image 10" descr="preencoded.png">    </p:cNvPr>
          <p:cNvPicPr>
            <a:picLocks noChangeAspect="1"/>
          </p:cNvPicPr>
          <p:nvPr/>
        </p:nvPicPr>
        <p:blipFill>
          <a:blip r:embed="rId11">
            <a:alphaModFix amt="50000"/>
          </a:blip>
          <a:stretch>
            <a:fillRect/>
          </a:stretch>
        </p:blipFill>
        <p:spPr>
          <a:xfrm>
            <a:off x="5507831" y="3325416"/>
            <a:ext cx="128588" cy="128588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5693569" y="3312914"/>
            <a:ext cx="189488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Loop or Graph patterns</a:t>
            </a:r>
            <a:endParaRPr lang="en-US" sz="942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4356" y="421481"/>
            <a:ext cx="8572500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 the Mind: Lokesh Mure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64356" y="1121569"/>
            <a:ext cx="1435894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Lokesh Mure</a:t>
            </a:r>
            <a:endParaRPr lang="en-US" sz="1602" dirty="0"/>
          </a:p>
        </p:txBody>
      </p:sp>
      <p:sp>
        <p:nvSpPr>
          <p:cNvPr id="5" name="Text 2"/>
          <p:cNvSpPr/>
          <p:nvPr/>
        </p:nvSpPr>
        <p:spPr>
          <a:xfrm>
            <a:off x="564356" y="1426964"/>
            <a:ext cx="1435894" cy="1696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@asklokesh</a:t>
            </a:r>
            <a:endParaRPr lang="en-US" sz="942" dirty="0"/>
          </a:p>
        </p:txBody>
      </p:sp>
      <p:sp>
        <p:nvSpPr>
          <p:cNvPr id="6" name="Text 3"/>
          <p:cNvSpPr/>
          <p:nvPr/>
        </p:nvSpPr>
        <p:spPr>
          <a:xfrm>
            <a:off x="564356" y="1953816"/>
            <a:ext cx="3786188" cy="237530"/>
          </a:xfrm>
          <a:prstGeom prst="rect">
            <a:avLst/>
          </a:prstGeom>
          <a:noFill/>
          <a:ln/>
        </p:spPr>
        <p:txBody>
          <a:bodyPr wrap="none" lIns="0" tIns="0" rIns="0" bIns="68072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PHILOSOPHY</a:t>
            </a:r>
            <a:endParaRPr lang="en-US" sz="987" dirty="0"/>
          </a:p>
        </p:txBody>
      </p:sp>
      <p:sp>
        <p:nvSpPr>
          <p:cNvPr id="7" name="Shape 4"/>
          <p:cNvSpPr/>
          <p:nvPr/>
        </p:nvSpPr>
        <p:spPr>
          <a:xfrm>
            <a:off x="564356" y="2334220"/>
            <a:ext cx="1835944" cy="380405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A1A1AA">
                <a:alpha val="10000"/>
              </a:srgbClr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56" y="2467273"/>
            <a:ext cx="100013" cy="1143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4394" y="2455664"/>
            <a:ext cx="68937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Auto-scaling</a:t>
            </a:r>
            <a:endParaRPr lang="en-US" sz="834" dirty="0"/>
          </a:p>
        </p:txBody>
      </p:sp>
      <p:sp>
        <p:nvSpPr>
          <p:cNvPr id="10" name="Shape 6"/>
          <p:cNvSpPr/>
          <p:nvPr/>
        </p:nvSpPr>
        <p:spPr>
          <a:xfrm>
            <a:off x="2514600" y="2334220"/>
            <a:ext cx="1835944" cy="380405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A1A1AA">
                <a:alpha val="10000"/>
              </a:srgbClr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0" y="2460129"/>
            <a:ext cx="114300" cy="1143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828925" y="2448520"/>
            <a:ext cx="932259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Defense in Depth</a:t>
            </a:r>
            <a:endParaRPr lang="en-US" sz="834" dirty="0"/>
          </a:p>
        </p:txBody>
      </p:sp>
      <p:sp>
        <p:nvSpPr>
          <p:cNvPr id="13" name="Shape 8"/>
          <p:cNvSpPr/>
          <p:nvPr/>
        </p:nvSpPr>
        <p:spPr>
          <a:xfrm>
            <a:off x="564356" y="2814638"/>
            <a:ext cx="1835944" cy="380405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A1A1AA">
                <a:alpha val="10000"/>
              </a:srgbClr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656" y="2947690"/>
            <a:ext cx="128588" cy="1143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92969" y="2936081"/>
            <a:ext cx="72509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Fault-tolerant</a:t>
            </a:r>
            <a:endParaRPr lang="en-US" sz="834" dirty="0"/>
          </a:p>
        </p:txBody>
      </p:sp>
      <p:sp>
        <p:nvSpPr>
          <p:cNvPr id="16" name="Shape 10"/>
          <p:cNvSpPr/>
          <p:nvPr/>
        </p:nvSpPr>
        <p:spPr>
          <a:xfrm>
            <a:off x="2514600" y="2814638"/>
            <a:ext cx="1835944" cy="380405"/>
          </a:xfrm>
          <a:prstGeom prst="rect">
            <a:avLst/>
          </a:prstGeom>
          <a:solidFill>
            <a:srgbClr val="FFFFFF">
              <a:alpha val="3000"/>
            </a:srgbClr>
          </a:solidFill>
          <a:ln w="9144">
            <a:solidFill>
              <a:srgbClr val="A1A1AA">
                <a:alpha val="10000"/>
              </a:srgbClr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900" y="2940546"/>
            <a:ext cx="128588" cy="1143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843213" y="2928938"/>
            <a:ext cx="548283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Optimized</a:t>
            </a:r>
            <a:endParaRPr lang="en-US" sz="834" dirty="0"/>
          </a:p>
        </p:txBody>
      </p:sp>
      <p:sp>
        <p:nvSpPr>
          <p:cNvPr id="19" name="Text 12"/>
          <p:cNvSpPr/>
          <p:nvPr/>
        </p:nvSpPr>
        <p:spPr>
          <a:xfrm>
            <a:off x="564356" y="3466505"/>
            <a:ext cx="3786188" cy="237530"/>
          </a:xfrm>
          <a:prstGeom prst="rect">
            <a:avLst/>
          </a:prstGeom>
          <a:noFill/>
          <a:ln/>
        </p:spPr>
        <p:txBody>
          <a:bodyPr wrap="none" lIns="0" tIns="0" rIns="0" bIns="68072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EXPERTISE</a:t>
            </a:r>
            <a:endParaRPr lang="en-US" sz="987" dirty="0"/>
          </a:p>
        </p:txBody>
      </p:sp>
      <p:sp>
        <p:nvSpPr>
          <p:cNvPr id="20" name="Text 13"/>
          <p:cNvSpPr/>
          <p:nvPr/>
        </p:nvSpPr>
        <p:spPr>
          <a:xfrm>
            <a:off x="564356" y="3846909"/>
            <a:ext cx="3786188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&amp; Agentic AI Solutions Architect with a focus on enterprise GenAI integration and large-scale infrastructure design.</a:t>
            </a:r>
            <a:endParaRPr lang="en-US" sz="942" dirty="0"/>
          </a:p>
        </p:txBody>
      </p:sp>
      <p:sp>
        <p:nvSpPr>
          <p:cNvPr id="21" name="Text 14"/>
          <p:cNvSpPr/>
          <p:nvPr/>
        </p:nvSpPr>
        <p:spPr>
          <a:xfrm>
            <a:off x="4779169" y="1121569"/>
            <a:ext cx="3786188" cy="237530"/>
          </a:xfrm>
          <a:prstGeom prst="rect">
            <a:avLst/>
          </a:prstGeom>
          <a:noFill/>
          <a:ln/>
        </p:spPr>
        <p:txBody>
          <a:bodyPr wrap="none" lIns="0" tIns="0" rIns="0" bIns="68072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spc="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ACHIEVEMENTS</a:t>
            </a:r>
            <a:endParaRPr lang="en-US" sz="987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9169" y="1544836"/>
            <a:ext cx="144661" cy="344686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5038130" y="1501973"/>
            <a:ext cx="3527227" cy="3875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Creator of </a:t>
            </a:r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Loki Mode</a:t>
            </a:r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 flagship autonomous </a:t>
            </a:r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 for Autonomi.</a:t>
            </a:r>
            <a:endParaRPr lang="en-US" sz="942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9169" y="2075259"/>
            <a:ext cx="128588" cy="34468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022056" y="2032397"/>
            <a:ext cx="3543300" cy="3875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of </a:t>
            </a:r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LokiMCPUniverse</a:t>
            </a:r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featuring 25+ production-</a:t>
            </a:r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 MCP servers.</a:t>
            </a:r>
            <a:endParaRPr lang="en-US" sz="942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9169" y="2605683"/>
            <a:ext cx="160734" cy="34468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054203" y="2562820"/>
            <a:ext cx="3511153" cy="3875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Architected multi-cloud solutions serving </a:t>
            </a:r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10M+ users</a:t>
            </a:r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 99.9% success rates.</a:t>
            </a:r>
            <a:endParaRPr lang="en-US" sz="942" dirty="0"/>
          </a:p>
        </p:txBody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79169" y="3136106"/>
            <a:ext cx="112514" cy="34290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5005983" y="3093244"/>
            <a:ext cx="3559373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Open-source contributor focused on building "What Works" in the AI agent space.</a:t>
            </a:r>
            <a:endParaRPr lang="en-US" sz="942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4" y="-7144"/>
            <a:ext cx="9158288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4356" y="421481"/>
            <a:ext cx="8572500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 &amp; Get Started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564356" y="1871328"/>
            <a:ext cx="3786188" cy="10972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269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Mode v6.6.0 is the most advanced autonomous framework for production software delivery. Join the Autonomi revolution and ship better code, faster.</a:t>
            </a:r>
            <a:endParaRPr lang="en-US" sz="1269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56" y="3546314"/>
            <a:ext cx="142875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92956" y="3540063"/>
            <a:ext cx="86618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autonomi.dev</a:t>
            </a:r>
            <a:endParaRPr lang="en-US" sz="885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6" y="3808847"/>
            <a:ext cx="111147" cy="1428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61228" y="3802596"/>
            <a:ext cx="209490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github.com/asklokesh/loki-mode</a:t>
            </a:r>
            <a:endParaRPr lang="en-US" sz="885" dirty="0"/>
          </a:p>
        </p:txBody>
      </p:sp>
      <p:sp>
        <p:nvSpPr>
          <p:cNvPr id="9" name="Shape 4"/>
          <p:cNvSpPr/>
          <p:nvPr/>
        </p:nvSpPr>
        <p:spPr>
          <a:xfrm>
            <a:off x="4779169" y="2110978"/>
            <a:ext cx="3786188" cy="1607344"/>
          </a:xfrm>
          <a:prstGeom prst="rect">
            <a:avLst/>
          </a:prstGeom>
          <a:solidFill>
            <a:srgbClr val="000000">
              <a:alpha val="30000"/>
            </a:srgbClr>
          </a:solidFill>
          <a:ln w="9144">
            <a:solidFill>
              <a:srgbClr val="6366F1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4779169" y="2118122"/>
            <a:ext cx="3786188" cy="221456"/>
          </a:xfrm>
          <a:prstGeom prst="rect">
            <a:avLst/>
          </a:prstGeom>
          <a:solidFill>
            <a:srgbClr val="6366F1">
              <a:alpha val="10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4779169" y="2332434"/>
            <a:ext cx="3786188" cy="7144"/>
          </a:xfrm>
          <a:prstGeom prst="rect">
            <a:avLst/>
          </a:prstGeom>
          <a:solidFill>
            <a:srgbClr val="D0D1FB"/>
          </a:solidFill>
          <a:ln/>
        </p:spPr>
      </p:sp>
      <p:sp>
        <p:nvSpPr>
          <p:cNvPr id="12" name="Text 7"/>
          <p:cNvSpPr/>
          <p:nvPr/>
        </p:nvSpPr>
        <p:spPr>
          <a:xfrm>
            <a:off x="4993481" y="2475309"/>
            <a:ext cx="76795" cy="1696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</a:t>
            </a:r>
            <a:endParaRPr lang="en-US" sz="885" dirty="0"/>
          </a:p>
        </p:txBody>
      </p:sp>
      <p:sp>
        <p:nvSpPr>
          <p:cNvPr id="13" name="Text 8"/>
          <p:cNvSpPr/>
          <p:nvPr/>
        </p:nvSpPr>
        <p:spPr>
          <a:xfrm>
            <a:off x="5177433" y="2475309"/>
            <a:ext cx="1843088" cy="1696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npm install -g loki-mode</a:t>
            </a:r>
            <a:endParaRPr lang="en-US" sz="942" dirty="0"/>
          </a:p>
        </p:txBody>
      </p:sp>
      <p:sp>
        <p:nvSpPr>
          <p:cNvPr id="14" name="Text 9"/>
          <p:cNvSpPr/>
          <p:nvPr/>
        </p:nvSpPr>
        <p:spPr>
          <a:xfrm>
            <a:off x="4993481" y="2787848"/>
            <a:ext cx="76795" cy="1696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6366F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</a:t>
            </a:r>
            <a:endParaRPr lang="en-US" sz="885" dirty="0"/>
          </a:p>
        </p:txBody>
      </p:sp>
      <p:sp>
        <p:nvSpPr>
          <p:cNvPr id="15" name="Text 10"/>
          <p:cNvSpPr/>
          <p:nvPr/>
        </p:nvSpPr>
        <p:spPr>
          <a:xfrm>
            <a:off x="5177433" y="2787848"/>
            <a:ext cx="1459111" cy="1696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loki start ./prd.md</a:t>
            </a:r>
            <a:endParaRPr lang="en-US" sz="942" dirty="0"/>
          </a:p>
        </p:txBody>
      </p:sp>
      <p:sp>
        <p:nvSpPr>
          <p:cNvPr id="16" name="Text 11"/>
          <p:cNvSpPr/>
          <p:nvPr/>
        </p:nvSpPr>
        <p:spPr>
          <a:xfrm>
            <a:off x="4993481" y="3100388"/>
            <a:ext cx="3357563" cy="3964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RARV Cycle + CoVe Initiated...</a:t>
            </a:r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# 41 Agents | Concurrent Session #1</a:t>
            </a:r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# Quality Gates: v6.6.0 Ready</a:t>
            </a:r>
            <a:endParaRPr lang="en-US" sz="72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2026-03-01T06:05:15Z</dcterms:created>
  <dcterms:modified xsi:type="dcterms:W3CDTF">2026-03-01T06:05:15Z</dcterms:modified>
</cp:coreProperties>
</file>